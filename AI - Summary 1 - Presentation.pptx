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60" r:id="rId2"/>
    <p:sldId id="261" r:id="rId3"/>
    <p:sldId id="263" r:id="rId4"/>
    <p:sldId id="276" r:id="rId5"/>
    <p:sldId id="282" r:id="rId6"/>
    <p:sldId id="281" r:id="rId7"/>
    <p:sldId id="277" r:id="rId8"/>
    <p:sldId id="280" r:id="rId9"/>
    <p:sldId id="278" r:id="rId10"/>
    <p:sldId id="275" r:id="rId11"/>
    <p:sldId id="272" r:id="rId12"/>
    <p:sldId id="269" r:id="rId13"/>
    <p:sldId id="27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CF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7F6478-45A6-B752-F14F-18CF5B94E184}" v="9" dt="2024-03-06T15:39:35.860"/>
    <p1510:client id="{2855DC9E-89CA-8F79-7FC1-ADB7BC5F5292}" v="229" dt="2024-03-06T05:55:28.806"/>
    <p1510:client id="{9256EC39-9DC6-7D33-DFC7-C29C616A383C}" v="104" dt="2024-03-06T11:40:30.964"/>
    <p1510:client id="{9A9ECE9E-58B5-8D60-BC4E-DDD663D64FEA}" v="1536" dt="2024-03-06T09:41:44.434"/>
    <p1510:client id="{C742480F-5000-8A75-C26F-CA486FED1BC2}" v="72" dt="2024-03-06T06:04:43.570"/>
    <p1510:client id="{F4343FB4-71C2-78B9-C189-B4EA9A8F73C3}" v="11" dt="2024-03-06T15:15:32.721"/>
    <p1510:client id="{FDD9721A-4A51-C562-F5A3-814C71549038}" v="939" dt="2024-03-06T11:32:28.623"/>
    <p1510:client id="{FE9C44F8-AB0B-8EB7-1EC2-49F85288A273}" v="28" dt="2024-03-06T14:23:21.6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14" d="100"/>
          <a:sy n="114" d="100"/>
        </p:scale>
        <p:origin x="18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3/16/2024</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166538304"/>
      </p:ext>
    </p:extLst>
  </p:cSld>
  <p:clrMapOvr>
    <a:masterClrMapping/>
  </p:clrMapOvr>
  <p:hf hdr="0" dt="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3/16/2024</a:t>
            </a:fld>
            <a:endParaRPr lang="en-US"/>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a:p>
        </p:txBody>
      </p:sp>
    </p:spTree>
    <p:extLst>
      <p:ext uri="{BB962C8B-B14F-4D97-AF65-F5344CB8AC3E}">
        <p14:creationId xmlns:p14="http://schemas.microsoft.com/office/powerpoint/2010/main" val="540985104"/>
      </p:ext>
    </p:extLst>
  </p:cSld>
  <p:clrMap bg1="dk1" tx1="lt1" bg2="dk2" tx2="lt2" accent1="accent1" accent2="accent2" accent3="accent3" accent4="accent4" accent5="accent5" accent6="accent6" hlink="hlink" folHlink="folHlink"/>
  <p:sldLayoutIdLst>
    <p:sldLayoutId id="2147483693" r:id="rId1"/>
  </p:sldLayoutIdLst>
  <p:hf hd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freepngimg.com/png/85229-text-photography-question-interrogation-communication-stock" TargetMode="External"/><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D3F930-9027-2AE6-5D26-6D5B1A2D8FA0}"/>
              </a:ext>
            </a:extLst>
          </p:cNvPr>
          <p:cNvPicPr>
            <a:picLocks noChangeAspect="1"/>
          </p:cNvPicPr>
          <p:nvPr/>
        </p:nvPicPr>
        <p:blipFill>
          <a:blip r:embed="rId2"/>
          <a:stretch>
            <a:fillRect/>
          </a:stretch>
        </p:blipFill>
        <p:spPr>
          <a:xfrm>
            <a:off x="8794018" y="300371"/>
            <a:ext cx="2835137" cy="1050787"/>
          </a:xfrm>
          <a:prstGeom prst="rect">
            <a:avLst/>
          </a:prstGeom>
        </p:spPr>
      </p:pic>
      <p:sp>
        <p:nvSpPr>
          <p:cNvPr id="8" name="TextBox 7">
            <a:extLst>
              <a:ext uri="{FF2B5EF4-FFF2-40B4-BE49-F238E27FC236}">
                <a16:creationId xmlns:a16="http://schemas.microsoft.com/office/drawing/2014/main" id="{551F25CB-AAA0-4857-5CA9-6E80FE258045}"/>
              </a:ext>
            </a:extLst>
          </p:cNvPr>
          <p:cNvSpPr txBox="1"/>
          <p:nvPr/>
        </p:nvSpPr>
        <p:spPr>
          <a:xfrm>
            <a:off x="229262" y="560145"/>
            <a:ext cx="798070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ea typeface="+mn-lt"/>
                <a:cs typeface="+mn-lt"/>
              </a:rPr>
              <a:t>COMP8700 | INTRO: ARTIFICIAL INTELLIGENCE</a:t>
            </a:r>
            <a:endParaRPr lang="en-US"/>
          </a:p>
        </p:txBody>
      </p:sp>
      <p:sp>
        <p:nvSpPr>
          <p:cNvPr id="9" name="TextBox 8">
            <a:extLst>
              <a:ext uri="{FF2B5EF4-FFF2-40B4-BE49-F238E27FC236}">
                <a16:creationId xmlns:a16="http://schemas.microsoft.com/office/drawing/2014/main" id="{64094205-0ABE-4C3E-71BB-DBAE1DA919DF}"/>
              </a:ext>
            </a:extLst>
          </p:cNvPr>
          <p:cNvSpPr txBox="1"/>
          <p:nvPr/>
        </p:nvSpPr>
        <p:spPr>
          <a:xfrm>
            <a:off x="2481697" y="2804454"/>
            <a:ext cx="723789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solidFill>
                  <a:srgbClr val="FDCF60"/>
                </a:solidFill>
                <a:ea typeface="+mn-lt"/>
                <a:cs typeface="+mn-lt"/>
              </a:rPr>
              <a:t>Real-Time Parking Space Detection and Management with Artificial Intelligence and Deep Learning System</a:t>
            </a:r>
            <a:endParaRPr lang="en-US" sz="2000" dirty="0"/>
          </a:p>
        </p:txBody>
      </p:sp>
      <p:sp>
        <p:nvSpPr>
          <p:cNvPr id="10" name="TextBox 9">
            <a:extLst>
              <a:ext uri="{FF2B5EF4-FFF2-40B4-BE49-F238E27FC236}">
                <a16:creationId xmlns:a16="http://schemas.microsoft.com/office/drawing/2014/main" id="{0EC6E9E2-4BB0-AFC9-AE78-25EB689F6480}"/>
              </a:ext>
            </a:extLst>
          </p:cNvPr>
          <p:cNvSpPr txBox="1"/>
          <p:nvPr/>
        </p:nvSpPr>
        <p:spPr>
          <a:xfrm>
            <a:off x="468379" y="5365236"/>
            <a:ext cx="562846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spc="531" dirty="0">
                <a:latin typeface="Calibri"/>
                <a:cs typeface="Calibri"/>
              </a:rPr>
              <a:t>HARSHKUMAR SABHAYA</a:t>
            </a:r>
            <a:endParaRPr lang="en-US" dirty="0"/>
          </a:p>
          <a:p>
            <a:r>
              <a:rPr lang="en-US" sz="2800" spc="531" dirty="0">
                <a:latin typeface="Calibri"/>
                <a:cs typeface="Calibri"/>
              </a:rPr>
              <a:t>Sabhayah@uwindsor.ca</a:t>
            </a:r>
          </a:p>
        </p:txBody>
      </p:sp>
      <p:sp>
        <p:nvSpPr>
          <p:cNvPr id="11" name="TextBox 10">
            <a:extLst>
              <a:ext uri="{FF2B5EF4-FFF2-40B4-BE49-F238E27FC236}">
                <a16:creationId xmlns:a16="http://schemas.microsoft.com/office/drawing/2014/main" id="{19F614B9-D277-99B9-0CEC-83DFB7F8D3DF}"/>
              </a:ext>
            </a:extLst>
          </p:cNvPr>
          <p:cNvSpPr txBox="1"/>
          <p:nvPr/>
        </p:nvSpPr>
        <p:spPr>
          <a:xfrm>
            <a:off x="8354402" y="5845615"/>
            <a:ext cx="32814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spc="531" dirty="0">
                <a:ea typeface="+mn-lt"/>
                <a:cs typeface="+mn-lt"/>
              </a:rPr>
              <a:t>March</a:t>
            </a:r>
            <a:r>
              <a:rPr lang="en-US" sz="2400" spc="531" dirty="0">
                <a:latin typeface="Calibri"/>
                <a:cs typeface="Calibri"/>
              </a:rPr>
              <a:t> 6, 2024</a:t>
            </a:r>
            <a:endParaRPr lang="en-US" sz="2400" dirty="0"/>
          </a:p>
        </p:txBody>
      </p:sp>
      <p:sp>
        <p:nvSpPr>
          <p:cNvPr id="5" name="Footer Placeholder 4">
            <a:extLst>
              <a:ext uri="{FF2B5EF4-FFF2-40B4-BE49-F238E27FC236}">
                <a16:creationId xmlns:a16="http://schemas.microsoft.com/office/drawing/2014/main" id="{EF4B8AFA-D14B-155A-4310-474BF0F569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4194-C7E3-3ACF-357F-1DB58FD43A4D}"/>
              </a:ext>
            </a:extLst>
          </p:cNvPr>
          <p:cNvSpPr>
            <a:spLocks noGrp="1"/>
          </p:cNvSpPr>
          <p:nvPr>
            <p:ph type="sldNum" sz="quarter" idx="12"/>
          </p:nvPr>
        </p:nvSpPr>
        <p:spPr/>
        <p:txBody>
          <a:bodyPr/>
          <a:lstStyle/>
          <a:p>
            <a:fld id="{4CD77608-3819-479B-BB98-C216BA724EFE}" type="slidenum">
              <a:rPr lang="en-US" smtClean="0"/>
              <a:t>1</a:t>
            </a:fld>
            <a:endParaRPr lang="en-US"/>
          </a:p>
        </p:txBody>
      </p:sp>
      <p:sp>
        <p:nvSpPr>
          <p:cNvPr id="4" name="TextBox 3">
            <a:extLst>
              <a:ext uri="{FF2B5EF4-FFF2-40B4-BE49-F238E27FC236}">
                <a16:creationId xmlns:a16="http://schemas.microsoft.com/office/drawing/2014/main" id="{ACAC185D-14BB-44B9-1853-AFBC85DAB8A2}"/>
              </a:ext>
            </a:extLst>
          </p:cNvPr>
          <p:cNvSpPr txBox="1"/>
          <p:nvPr/>
        </p:nvSpPr>
        <p:spPr>
          <a:xfrm>
            <a:off x="4737522" y="2281376"/>
            <a:ext cx="272858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Title Of The Paper</a:t>
            </a:r>
            <a:endParaRPr lang="en-US" sz="2400"/>
          </a:p>
        </p:txBody>
      </p:sp>
      <p:sp>
        <p:nvSpPr>
          <p:cNvPr id="7" name="TextBox 6">
            <a:extLst>
              <a:ext uri="{FF2B5EF4-FFF2-40B4-BE49-F238E27FC236}">
                <a16:creationId xmlns:a16="http://schemas.microsoft.com/office/drawing/2014/main" id="{D2903920-9443-1F81-D5BC-379E40B4BA4B}"/>
              </a:ext>
            </a:extLst>
          </p:cNvPr>
          <p:cNvSpPr txBox="1"/>
          <p:nvPr/>
        </p:nvSpPr>
        <p:spPr>
          <a:xfrm>
            <a:off x="2933178" y="3632547"/>
            <a:ext cx="63360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Authors: Shukla, S., Gupta, R., Garg, S., Harit, S., &amp; Khan, R.</a:t>
            </a:r>
            <a:endParaRPr lang="en-US" dirty="0"/>
          </a:p>
        </p:txBody>
      </p:sp>
    </p:spTree>
    <p:extLst>
      <p:ext uri="{BB962C8B-B14F-4D97-AF65-F5344CB8AC3E}">
        <p14:creationId xmlns:p14="http://schemas.microsoft.com/office/powerpoint/2010/main" val="4050024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F4B8AFA-D14B-155A-4310-474BF0F569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4194-C7E3-3ACF-357F-1DB58FD43A4D}"/>
              </a:ext>
            </a:extLst>
          </p:cNvPr>
          <p:cNvSpPr>
            <a:spLocks noGrp="1"/>
          </p:cNvSpPr>
          <p:nvPr>
            <p:ph type="sldNum" sz="quarter" idx="12"/>
          </p:nvPr>
        </p:nvSpPr>
        <p:spPr/>
        <p:txBody>
          <a:bodyPr/>
          <a:lstStyle/>
          <a:p>
            <a:fld id="{4CD77608-3819-479B-BB98-C216BA724EFE}" type="slidenum">
              <a:rPr lang="en-US" smtClean="0"/>
              <a:t>2</a:t>
            </a:fld>
            <a:endParaRPr lang="en-US"/>
          </a:p>
        </p:txBody>
      </p:sp>
      <p:sp>
        <p:nvSpPr>
          <p:cNvPr id="2" name="TextBox 6">
            <a:extLst>
              <a:ext uri="{FF2B5EF4-FFF2-40B4-BE49-F238E27FC236}">
                <a16:creationId xmlns:a16="http://schemas.microsoft.com/office/drawing/2014/main" id="{EB45E4DA-F0FB-EBB5-18A8-DAD5928BA7B6}"/>
              </a:ext>
            </a:extLst>
          </p:cNvPr>
          <p:cNvSpPr txBox="1"/>
          <p:nvPr/>
        </p:nvSpPr>
        <p:spPr>
          <a:xfrm>
            <a:off x="537117" y="605618"/>
            <a:ext cx="4427558"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ea typeface="+mn-lt"/>
                <a:cs typeface="+mn-lt"/>
              </a:rPr>
              <a:t>Key elements of summary</a:t>
            </a:r>
            <a:endParaRPr lang="en-US"/>
          </a:p>
        </p:txBody>
      </p:sp>
      <p:cxnSp>
        <p:nvCxnSpPr>
          <p:cNvPr id="3" name="Straight Arrow Connector 2">
            <a:extLst>
              <a:ext uri="{FF2B5EF4-FFF2-40B4-BE49-F238E27FC236}">
                <a16:creationId xmlns:a16="http://schemas.microsoft.com/office/drawing/2014/main" id="{B4381EBF-F096-A980-77EC-87122C65CEA4}"/>
              </a:ext>
            </a:extLst>
          </p:cNvPr>
          <p:cNvCxnSpPr/>
          <p:nvPr/>
        </p:nvCxnSpPr>
        <p:spPr>
          <a:xfrm>
            <a:off x="577773" y="1113312"/>
            <a:ext cx="10894995" cy="113956"/>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E0B64E0-165C-A8B0-0AA1-E22758886AE4}"/>
              </a:ext>
            </a:extLst>
          </p:cNvPr>
          <p:cNvSpPr txBox="1"/>
          <p:nvPr/>
        </p:nvSpPr>
        <p:spPr>
          <a:xfrm>
            <a:off x="574109" y="1377863"/>
            <a:ext cx="10688875" cy="33695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b="1" dirty="0">
                <a:ea typeface="+mn-lt"/>
                <a:cs typeface="+mn-lt"/>
              </a:rPr>
              <a:t>Introduction</a:t>
            </a:r>
            <a:endParaRPr lang="en-US"/>
          </a:p>
          <a:p>
            <a:pPr marL="285750" indent="-285750">
              <a:lnSpc>
                <a:spcPct val="150000"/>
              </a:lnSpc>
              <a:buFont typeface="Arial"/>
              <a:buChar char="•"/>
            </a:pPr>
            <a:r>
              <a:rPr lang="en-US" b="1" dirty="0">
                <a:ea typeface="+mn-lt"/>
                <a:cs typeface="+mn-lt"/>
              </a:rPr>
              <a:t>Problem</a:t>
            </a:r>
          </a:p>
          <a:p>
            <a:pPr marL="285750" indent="-285750">
              <a:lnSpc>
                <a:spcPct val="150000"/>
              </a:lnSpc>
              <a:buFont typeface="Arial"/>
              <a:buChar char="•"/>
            </a:pPr>
            <a:r>
              <a:rPr lang="en-US" b="1" dirty="0">
                <a:ea typeface="+mn-lt"/>
                <a:cs typeface="+mn-lt"/>
              </a:rPr>
              <a:t>Methodology</a:t>
            </a:r>
          </a:p>
          <a:p>
            <a:pPr marL="285750" indent="-285750">
              <a:lnSpc>
                <a:spcPct val="150000"/>
              </a:lnSpc>
              <a:buFont typeface="Arial"/>
              <a:buChar char="•"/>
            </a:pPr>
            <a:r>
              <a:rPr lang="en-US" b="1" dirty="0">
                <a:ea typeface="+mn-lt"/>
                <a:cs typeface="+mn-lt"/>
              </a:rPr>
              <a:t>Experiments</a:t>
            </a:r>
          </a:p>
          <a:p>
            <a:pPr marL="285750" indent="-285750">
              <a:lnSpc>
                <a:spcPct val="150000"/>
              </a:lnSpc>
              <a:buFont typeface="Arial"/>
              <a:buChar char="•"/>
            </a:pPr>
            <a:r>
              <a:rPr lang="en-US" b="1" dirty="0">
                <a:ea typeface="+mn-lt"/>
                <a:cs typeface="+mn-lt"/>
              </a:rPr>
              <a:t>Result</a:t>
            </a:r>
          </a:p>
          <a:p>
            <a:pPr marL="285750" indent="-285750">
              <a:lnSpc>
                <a:spcPct val="150000"/>
              </a:lnSpc>
              <a:buFont typeface="Arial"/>
              <a:buChar char="•"/>
            </a:pPr>
            <a:r>
              <a:rPr lang="en-US" b="1" dirty="0">
                <a:ea typeface="+mn-lt"/>
                <a:cs typeface="+mn-lt"/>
              </a:rPr>
              <a:t>Discussion</a:t>
            </a:r>
          </a:p>
          <a:p>
            <a:pPr marL="285750" indent="-285750">
              <a:lnSpc>
                <a:spcPct val="150000"/>
              </a:lnSpc>
              <a:buFont typeface="Arial"/>
              <a:buChar char="•"/>
            </a:pPr>
            <a:r>
              <a:rPr lang="en-US" b="1" dirty="0">
                <a:ea typeface="+mn-lt"/>
                <a:cs typeface="+mn-lt"/>
              </a:rPr>
              <a:t>Conclusion</a:t>
            </a:r>
          </a:p>
          <a:p>
            <a:pPr marL="285750" indent="-285750">
              <a:lnSpc>
                <a:spcPct val="150000"/>
              </a:lnSpc>
              <a:buFont typeface="Arial"/>
              <a:buChar char="•"/>
            </a:pPr>
            <a:r>
              <a:rPr lang="en-US" b="1" dirty="0">
                <a:ea typeface="+mn-lt"/>
                <a:cs typeface="+mn-lt"/>
              </a:rPr>
              <a:t>References</a:t>
            </a:r>
          </a:p>
        </p:txBody>
      </p:sp>
    </p:spTree>
    <p:extLst>
      <p:ext uri="{BB962C8B-B14F-4D97-AF65-F5344CB8AC3E}">
        <p14:creationId xmlns:p14="http://schemas.microsoft.com/office/powerpoint/2010/main" val="92437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F4B8AFA-D14B-155A-4310-474BF0F569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4194-C7E3-3ACF-357F-1DB58FD43A4D}"/>
              </a:ext>
            </a:extLst>
          </p:cNvPr>
          <p:cNvSpPr>
            <a:spLocks noGrp="1"/>
          </p:cNvSpPr>
          <p:nvPr>
            <p:ph type="sldNum" sz="quarter" idx="12"/>
          </p:nvPr>
        </p:nvSpPr>
        <p:spPr/>
        <p:txBody>
          <a:bodyPr/>
          <a:lstStyle/>
          <a:p>
            <a:fld id="{4CD77608-3819-479B-BB98-C216BA724EFE}" type="slidenum">
              <a:rPr lang="en-US" smtClean="0"/>
              <a:t>3</a:t>
            </a:fld>
            <a:endParaRPr lang="en-US"/>
          </a:p>
        </p:txBody>
      </p:sp>
      <p:sp>
        <p:nvSpPr>
          <p:cNvPr id="2" name="TextBox 6">
            <a:extLst>
              <a:ext uri="{FF2B5EF4-FFF2-40B4-BE49-F238E27FC236}">
                <a16:creationId xmlns:a16="http://schemas.microsoft.com/office/drawing/2014/main" id="{EB45E4DA-F0FB-EBB5-18A8-DAD5928BA7B6}"/>
              </a:ext>
            </a:extLst>
          </p:cNvPr>
          <p:cNvSpPr txBox="1"/>
          <p:nvPr/>
        </p:nvSpPr>
        <p:spPr>
          <a:xfrm>
            <a:off x="537117" y="605618"/>
            <a:ext cx="3268901"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ea typeface="+mn-lt"/>
                <a:cs typeface="+mn-lt"/>
              </a:rPr>
              <a:t>Introduction </a:t>
            </a:r>
            <a:endParaRPr lang="en-US" b="1"/>
          </a:p>
        </p:txBody>
      </p:sp>
      <p:cxnSp>
        <p:nvCxnSpPr>
          <p:cNvPr id="3" name="Straight Arrow Connector 2">
            <a:extLst>
              <a:ext uri="{FF2B5EF4-FFF2-40B4-BE49-F238E27FC236}">
                <a16:creationId xmlns:a16="http://schemas.microsoft.com/office/drawing/2014/main" id="{B4381EBF-F096-A980-77EC-87122C65CEA4}"/>
              </a:ext>
            </a:extLst>
          </p:cNvPr>
          <p:cNvCxnSpPr/>
          <p:nvPr/>
        </p:nvCxnSpPr>
        <p:spPr>
          <a:xfrm>
            <a:off x="577773" y="1113312"/>
            <a:ext cx="10894995" cy="113956"/>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E38C743-E6D4-DF47-718C-8E3F6E471DDC}"/>
              </a:ext>
            </a:extLst>
          </p:cNvPr>
          <p:cNvSpPr txBox="1"/>
          <p:nvPr/>
        </p:nvSpPr>
        <p:spPr>
          <a:xfrm>
            <a:off x="574109" y="1513561"/>
            <a:ext cx="1063668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solidFill>
                  <a:srgbClr val="FDCF60"/>
                </a:solidFill>
                <a:ea typeface="+mn-lt"/>
                <a:cs typeface="+mn-lt"/>
              </a:rPr>
              <a:t>Parking space management</a:t>
            </a:r>
            <a:r>
              <a:rPr lang="en-US" dirty="0">
                <a:ea typeface="+mn-lt"/>
                <a:cs typeface="+mn-lt"/>
              </a:rPr>
              <a:t> in urban areas remains a persistent challenge as the demand for cars continues to surge, but there </a:t>
            </a:r>
            <a:r>
              <a:rPr lang="en-US" dirty="0">
                <a:solidFill>
                  <a:srgbClr val="FDCF60"/>
                </a:solidFill>
                <a:ea typeface="+mn-lt"/>
                <a:cs typeface="+mn-lt"/>
              </a:rPr>
              <a:t>aren't enough places</a:t>
            </a:r>
            <a:r>
              <a:rPr lang="en-US" dirty="0">
                <a:ea typeface="+mn-lt"/>
                <a:cs typeface="+mn-lt"/>
              </a:rPr>
              <a:t> to park them.</a:t>
            </a:r>
            <a:endParaRPr lang="en-US"/>
          </a:p>
          <a:p>
            <a:pPr marL="285750" indent="-285750" algn="just">
              <a:buFont typeface="Arial"/>
              <a:buChar char="•"/>
            </a:pPr>
            <a:endParaRPr lang="en-US" dirty="0"/>
          </a:p>
          <a:p>
            <a:pPr marL="285750" indent="-285750" algn="just">
              <a:buFont typeface="Arial"/>
              <a:buChar char="•"/>
            </a:pPr>
            <a:r>
              <a:rPr lang="en-US" dirty="0">
                <a:ea typeface="+mn-lt"/>
                <a:cs typeface="+mn-lt"/>
              </a:rPr>
              <a:t>Existing solutions such as </a:t>
            </a:r>
            <a:r>
              <a:rPr lang="en-US" dirty="0">
                <a:solidFill>
                  <a:srgbClr val="FDCF60"/>
                </a:solidFill>
                <a:ea typeface="+mn-lt"/>
                <a:cs typeface="+mn-lt"/>
              </a:rPr>
              <a:t>barriers </a:t>
            </a:r>
            <a:r>
              <a:rPr lang="en-US" dirty="0">
                <a:ea typeface="+mn-lt"/>
                <a:cs typeface="+mn-lt"/>
              </a:rPr>
              <a:t>and </a:t>
            </a:r>
            <a:r>
              <a:rPr lang="en-US" dirty="0">
                <a:solidFill>
                  <a:srgbClr val="FDCF60"/>
                </a:solidFill>
                <a:ea typeface="+mn-lt"/>
                <a:cs typeface="+mn-lt"/>
              </a:rPr>
              <a:t>ground sensors</a:t>
            </a:r>
            <a:r>
              <a:rPr lang="en-US" dirty="0">
                <a:ea typeface="+mn-lt"/>
                <a:cs typeface="+mn-lt"/>
              </a:rPr>
              <a:t> placed on every parking space, are </a:t>
            </a:r>
            <a:r>
              <a:rPr lang="en-US" dirty="0">
                <a:solidFill>
                  <a:srgbClr val="FDCF60"/>
                </a:solidFill>
                <a:ea typeface="+mn-lt"/>
                <a:cs typeface="+mn-lt"/>
              </a:rPr>
              <a:t>expensive </a:t>
            </a:r>
            <a:r>
              <a:rPr lang="en-US" dirty="0">
                <a:ea typeface="+mn-lt"/>
                <a:cs typeface="+mn-lt"/>
              </a:rPr>
              <a:t>and </a:t>
            </a:r>
            <a:r>
              <a:rPr lang="en-US" dirty="0">
                <a:solidFill>
                  <a:srgbClr val="FDCF60"/>
                </a:solidFill>
                <a:ea typeface="+mn-lt"/>
                <a:cs typeface="+mn-lt"/>
              </a:rPr>
              <a:t>mostly not feasible in every scenario</a:t>
            </a:r>
            <a:r>
              <a:rPr lang="en-US" dirty="0">
                <a:ea typeface="+mn-lt"/>
                <a:cs typeface="+mn-lt"/>
              </a:rPr>
              <a:t>.</a:t>
            </a:r>
          </a:p>
          <a:p>
            <a:pPr marL="285750" indent="-285750" algn="just">
              <a:buFont typeface="Arial"/>
              <a:buChar char="•"/>
            </a:pPr>
            <a:endParaRPr lang="en-US" dirty="0"/>
          </a:p>
          <a:p>
            <a:pPr marL="285750" indent="-285750" algn="just">
              <a:buFont typeface="Arial"/>
              <a:buChar char="•"/>
            </a:pPr>
            <a:r>
              <a:rPr lang="en-US" dirty="0">
                <a:ea typeface="+mn-lt"/>
                <a:cs typeface="+mn-lt"/>
              </a:rPr>
              <a:t>But author's innovative solution utilizes </a:t>
            </a:r>
            <a:r>
              <a:rPr lang="en-US" dirty="0">
                <a:solidFill>
                  <a:srgbClr val="FDCF60"/>
                </a:solidFill>
                <a:ea typeface="+mn-lt"/>
                <a:cs typeface="+mn-lt"/>
              </a:rPr>
              <a:t>live video streams</a:t>
            </a:r>
            <a:r>
              <a:rPr lang="en-US" dirty="0">
                <a:ea typeface="+mn-lt"/>
                <a:cs typeface="+mn-lt"/>
              </a:rPr>
              <a:t> to simultaneously monitor parking spaces, predict availability, and detect anomalies in real-time [2]. </a:t>
            </a:r>
          </a:p>
          <a:p>
            <a:pPr marL="285750" indent="-285750" algn="just">
              <a:buFont typeface="Arial"/>
              <a:buChar char="•"/>
            </a:pPr>
            <a:endParaRPr lang="en-US" dirty="0"/>
          </a:p>
          <a:p>
            <a:pPr marL="285750" indent="-285750" algn="just">
              <a:buFont typeface="Arial"/>
              <a:buChar char="•"/>
            </a:pPr>
            <a:r>
              <a:rPr lang="en-US" dirty="0"/>
              <a:t>Solution</a:t>
            </a:r>
            <a:r>
              <a:rPr lang="en-US" dirty="0">
                <a:ea typeface="+mn-lt"/>
                <a:cs typeface="+mn-lt"/>
              </a:rPr>
              <a:t> combines </a:t>
            </a:r>
            <a:r>
              <a:rPr lang="en-US" dirty="0">
                <a:solidFill>
                  <a:srgbClr val="FFFFFF"/>
                </a:solidFill>
                <a:ea typeface="+mn-lt"/>
                <a:cs typeface="+mn-lt"/>
              </a:rPr>
              <a:t>Convolutional Neural Networks</a:t>
            </a:r>
            <a:r>
              <a:rPr lang="en-US" dirty="0">
                <a:ea typeface="+mn-lt"/>
                <a:cs typeface="+mn-lt"/>
              </a:rPr>
              <a:t> (CNN) and Long Short-Term Memory (LSTM) models with </a:t>
            </a:r>
            <a:r>
              <a:rPr lang="en-US" dirty="0">
                <a:solidFill>
                  <a:srgbClr val="FDCF60"/>
                </a:solidFill>
                <a:ea typeface="+mn-lt"/>
                <a:cs typeface="+mn-lt"/>
              </a:rPr>
              <a:t>deep learning techniques</a:t>
            </a:r>
            <a:r>
              <a:rPr lang="en-US" dirty="0">
                <a:ea typeface="+mn-lt"/>
                <a:cs typeface="+mn-lt"/>
              </a:rPr>
              <a:t> for </a:t>
            </a:r>
            <a:r>
              <a:rPr lang="en-US" dirty="0">
                <a:solidFill>
                  <a:srgbClr val="FDCF60"/>
                </a:solidFill>
                <a:ea typeface="+mn-lt"/>
                <a:cs typeface="+mn-lt"/>
              </a:rPr>
              <a:t>cost-effective</a:t>
            </a:r>
            <a:r>
              <a:rPr lang="en-US" dirty="0">
                <a:ea typeface="+mn-lt"/>
                <a:cs typeface="+mn-lt"/>
              </a:rPr>
              <a:t> and comprehensive urban parking management, improving public safety [1]</a:t>
            </a:r>
            <a:endParaRPr lang="en-US" dirty="0"/>
          </a:p>
        </p:txBody>
      </p:sp>
    </p:spTree>
    <p:extLst>
      <p:ext uri="{BB962C8B-B14F-4D97-AF65-F5344CB8AC3E}">
        <p14:creationId xmlns:p14="http://schemas.microsoft.com/office/powerpoint/2010/main" val="2213229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9840EC-D082-5F50-8C4D-69E10D6B4E45}"/>
              </a:ext>
            </a:extLst>
          </p:cNvPr>
          <p:cNvSpPr>
            <a:spLocks noGrp="1"/>
          </p:cNvSpPr>
          <p:nvPr>
            <p:ph type="sldNum" sz="quarter" idx="12"/>
          </p:nvPr>
        </p:nvSpPr>
        <p:spPr/>
        <p:txBody>
          <a:bodyPr/>
          <a:lstStyle/>
          <a:p>
            <a:fld id="{4CD77608-3819-479B-BB98-C216BA724EFE}" type="slidenum">
              <a:rPr lang="en-US" smtClean="0"/>
              <a:t>4</a:t>
            </a:fld>
            <a:endParaRPr lang="en-US"/>
          </a:p>
        </p:txBody>
      </p:sp>
      <p:sp>
        <p:nvSpPr>
          <p:cNvPr id="2" name="Footer Placeholder 1">
            <a:extLst>
              <a:ext uri="{FF2B5EF4-FFF2-40B4-BE49-F238E27FC236}">
                <a16:creationId xmlns:a16="http://schemas.microsoft.com/office/drawing/2014/main" id="{3EEBE474-AA6A-63A1-84C0-26CA0A5AC0C7}"/>
              </a:ext>
            </a:extLst>
          </p:cNvPr>
          <p:cNvSpPr>
            <a:spLocks noGrp="1"/>
          </p:cNvSpPr>
          <p:nvPr>
            <p:ph type="ftr" sz="quarter" idx="11"/>
          </p:nvPr>
        </p:nvSpPr>
        <p:spPr/>
        <p:txBody>
          <a:bodyPr/>
          <a:lstStyle/>
          <a:p>
            <a:endParaRPr lang="en-US"/>
          </a:p>
        </p:txBody>
      </p:sp>
      <p:sp>
        <p:nvSpPr>
          <p:cNvPr id="5" name="TextBox 4">
            <a:extLst>
              <a:ext uri="{FF2B5EF4-FFF2-40B4-BE49-F238E27FC236}">
                <a16:creationId xmlns:a16="http://schemas.microsoft.com/office/drawing/2014/main" id="{DF75BA7F-CB58-05E7-BDCB-268BB7A7521A}"/>
              </a:ext>
            </a:extLst>
          </p:cNvPr>
          <p:cNvSpPr txBox="1"/>
          <p:nvPr/>
        </p:nvSpPr>
        <p:spPr>
          <a:xfrm>
            <a:off x="537117" y="605618"/>
            <a:ext cx="1089879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a:t>
            </a:r>
            <a:endParaRPr lang="en-US" sz="2400" dirty="0">
              <a:solidFill>
                <a:srgbClr val="000000"/>
              </a:solidFill>
              <a:latin typeface="Times New Roman"/>
              <a:cs typeface="Times New Roman"/>
            </a:endParaRPr>
          </a:p>
        </p:txBody>
      </p:sp>
      <p:cxnSp>
        <p:nvCxnSpPr>
          <p:cNvPr id="9" name="Straight Arrow Connector 8">
            <a:extLst>
              <a:ext uri="{FF2B5EF4-FFF2-40B4-BE49-F238E27FC236}">
                <a16:creationId xmlns:a16="http://schemas.microsoft.com/office/drawing/2014/main" id="{42AC460B-8EEF-0262-4C86-E2AD56BE86E4}"/>
              </a:ext>
            </a:extLst>
          </p:cNvPr>
          <p:cNvCxnSpPr/>
          <p:nvPr/>
        </p:nvCxnSpPr>
        <p:spPr>
          <a:xfrm>
            <a:off x="577773" y="1113312"/>
            <a:ext cx="10905433" cy="7220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1DE070-493F-0876-AB6F-ED6EA172CD83}"/>
              </a:ext>
            </a:extLst>
          </p:cNvPr>
          <p:cNvSpPr txBox="1"/>
          <p:nvPr/>
        </p:nvSpPr>
        <p:spPr>
          <a:xfrm>
            <a:off x="543116" y="1897050"/>
            <a:ext cx="10904548"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Limited Parking Space</a:t>
            </a:r>
            <a:r>
              <a:rPr lang="en-US" dirty="0">
                <a:ea typeface="+mn-lt"/>
                <a:cs typeface="+mn-lt"/>
              </a:rPr>
              <a:t>: Urban areas often face a shortage of parking spaces due to the increasing number of vehicles. </a:t>
            </a:r>
            <a:r>
              <a:rPr lang="en-US" dirty="0">
                <a:solidFill>
                  <a:srgbClr val="000000"/>
                </a:solidFill>
                <a:latin typeface="Times New Roman"/>
                <a:ea typeface="+mn-lt"/>
                <a:cs typeface="Times New Roman"/>
              </a:rPr>
              <a:t> </a:t>
            </a:r>
            <a:endParaRPr lang="en-US" dirty="0"/>
          </a:p>
          <a:p>
            <a:pPr marL="285750" indent="-285750">
              <a:buFont typeface="Arial"/>
              <a:buChar char="•"/>
            </a:pPr>
            <a:endParaRPr lang="en-US"/>
          </a:p>
          <a:p>
            <a:pPr marL="285750" indent="-285750">
              <a:buFont typeface="Arial"/>
              <a:buChar char="•"/>
            </a:pPr>
            <a:r>
              <a:rPr lang="en-US" b="1" dirty="0">
                <a:ea typeface="+mn-lt"/>
                <a:cs typeface="+mn-lt"/>
              </a:rPr>
              <a:t>Inefficient Management</a:t>
            </a:r>
            <a:r>
              <a:rPr lang="en-US" dirty="0">
                <a:ea typeface="+mn-lt"/>
                <a:cs typeface="+mn-lt"/>
              </a:rPr>
              <a:t>: Conventional parking management systems rely on manual methods, leading to inefficiencies in space utilization and allocation. </a:t>
            </a:r>
            <a:endParaRPr lang="en-US" dirty="0"/>
          </a:p>
          <a:p>
            <a:pPr marL="285750" indent="-285750">
              <a:buFont typeface="Arial"/>
              <a:buChar char="•"/>
            </a:pPr>
            <a:endParaRPr lang="en-US"/>
          </a:p>
          <a:p>
            <a:pPr marL="285750" indent="-285750">
              <a:buFont typeface="Arial"/>
              <a:buChar char="•"/>
            </a:pPr>
            <a:r>
              <a:rPr lang="en-US" b="1" dirty="0">
                <a:ea typeface="+mn-lt"/>
                <a:cs typeface="+mn-lt"/>
              </a:rPr>
              <a:t>High Costs</a:t>
            </a:r>
            <a:r>
              <a:rPr lang="en-US" dirty="0">
                <a:ea typeface="+mn-lt"/>
                <a:cs typeface="+mn-lt"/>
              </a:rPr>
              <a:t>: Implementing and maintaining traditional parking systems, such as manned parking lots or physical ticketing systems, can be expensive for both authorities and users. </a:t>
            </a:r>
            <a:endParaRPr lang="en-US" dirty="0"/>
          </a:p>
          <a:p>
            <a:pPr marL="285750" indent="-285750">
              <a:buFont typeface="Arial"/>
              <a:buChar char="•"/>
            </a:pPr>
            <a:endParaRPr lang="en-US"/>
          </a:p>
          <a:p>
            <a:pPr marL="285750" indent="-285750">
              <a:buFont typeface="Arial"/>
              <a:buChar char="•"/>
            </a:pPr>
            <a:r>
              <a:rPr lang="en-US" b="1" dirty="0">
                <a:ea typeface="+mn-lt"/>
                <a:cs typeface="+mn-lt"/>
              </a:rPr>
              <a:t>Traffic Congestion</a:t>
            </a:r>
            <a:r>
              <a:rPr lang="en-US" dirty="0">
                <a:ea typeface="+mn-lt"/>
                <a:cs typeface="+mn-lt"/>
              </a:rPr>
              <a:t>: Poorly managed parking contributes to traffic congestion as drivers circle around in search of parking spaces, leading to environmental and economic impacts.</a:t>
            </a:r>
          </a:p>
        </p:txBody>
      </p:sp>
      <p:sp>
        <p:nvSpPr>
          <p:cNvPr id="7" name="TextBox 6">
            <a:extLst>
              <a:ext uri="{FF2B5EF4-FFF2-40B4-BE49-F238E27FC236}">
                <a16:creationId xmlns:a16="http://schemas.microsoft.com/office/drawing/2014/main" id="{BB73BCDC-3B35-C86F-72F8-D953E6BBF3C3}"/>
              </a:ext>
            </a:extLst>
          </p:cNvPr>
          <p:cNvSpPr txBox="1"/>
          <p:nvPr/>
        </p:nvSpPr>
        <p:spPr>
          <a:xfrm>
            <a:off x="540163" y="1322207"/>
            <a:ext cx="82191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solidFill>
                  <a:srgbClr val="FDCF60"/>
                </a:solidFill>
                <a:ea typeface="+mn-lt"/>
                <a:cs typeface="+mn-lt"/>
              </a:rPr>
              <a:t>What are the challenges of urban  parking management ?</a:t>
            </a:r>
            <a:endParaRPr lang="en-US" sz="2400"/>
          </a:p>
        </p:txBody>
      </p:sp>
    </p:spTree>
    <p:extLst>
      <p:ext uri="{BB962C8B-B14F-4D97-AF65-F5344CB8AC3E}">
        <p14:creationId xmlns:p14="http://schemas.microsoft.com/office/powerpoint/2010/main" val="2761483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9840EC-D082-5F50-8C4D-69E10D6B4E45}"/>
              </a:ext>
            </a:extLst>
          </p:cNvPr>
          <p:cNvSpPr>
            <a:spLocks noGrp="1"/>
          </p:cNvSpPr>
          <p:nvPr>
            <p:ph type="sldNum" sz="quarter" idx="12"/>
          </p:nvPr>
        </p:nvSpPr>
        <p:spPr/>
        <p:txBody>
          <a:bodyPr/>
          <a:lstStyle/>
          <a:p>
            <a:fld id="{4CD77608-3819-479B-BB98-C216BA724EFE}" type="slidenum">
              <a:rPr lang="en-US" smtClean="0"/>
              <a:t>5</a:t>
            </a:fld>
            <a:endParaRPr lang="en-US"/>
          </a:p>
        </p:txBody>
      </p:sp>
      <p:sp>
        <p:nvSpPr>
          <p:cNvPr id="2" name="Footer Placeholder 1">
            <a:extLst>
              <a:ext uri="{FF2B5EF4-FFF2-40B4-BE49-F238E27FC236}">
                <a16:creationId xmlns:a16="http://schemas.microsoft.com/office/drawing/2014/main" id="{3EEBE474-AA6A-63A1-84C0-26CA0A5AC0C7}"/>
              </a:ext>
            </a:extLst>
          </p:cNvPr>
          <p:cNvSpPr>
            <a:spLocks noGrp="1"/>
          </p:cNvSpPr>
          <p:nvPr>
            <p:ph type="ftr" sz="quarter" idx="11"/>
          </p:nvPr>
        </p:nvSpPr>
        <p:spPr/>
        <p:txBody>
          <a:bodyPr/>
          <a:lstStyle/>
          <a:p>
            <a:endParaRPr lang="en-US"/>
          </a:p>
        </p:txBody>
      </p:sp>
      <p:sp>
        <p:nvSpPr>
          <p:cNvPr id="5" name="TextBox 4">
            <a:extLst>
              <a:ext uri="{FF2B5EF4-FFF2-40B4-BE49-F238E27FC236}">
                <a16:creationId xmlns:a16="http://schemas.microsoft.com/office/drawing/2014/main" id="{DF75BA7F-CB58-05E7-BDCB-268BB7A7521A}"/>
              </a:ext>
            </a:extLst>
          </p:cNvPr>
          <p:cNvSpPr txBox="1"/>
          <p:nvPr/>
        </p:nvSpPr>
        <p:spPr>
          <a:xfrm>
            <a:off x="537117" y="605618"/>
            <a:ext cx="1089879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Methodology</a:t>
            </a:r>
          </a:p>
        </p:txBody>
      </p:sp>
      <p:cxnSp>
        <p:nvCxnSpPr>
          <p:cNvPr id="9" name="Straight Arrow Connector 8">
            <a:extLst>
              <a:ext uri="{FF2B5EF4-FFF2-40B4-BE49-F238E27FC236}">
                <a16:creationId xmlns:a16="http://schemas.microsoft.com/office/drawing/2014/main" id="{42AC460B-8EEF-0262-4C86-E2AD56BE86E4}"/>
              </a:ext>
            </a:extLst>
          </p:cNvPr>
          <p:cNvCxnSpPr/>
          <p:nvPr/>
        </p:nvCxnSpPr>
        <p:spPr>
          <a:xfrm>
            <a:off x="577773" y="1113312"/>
            <a:ext cx="10905433" cy="7220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1DE070-493F-0876-AB6F-ED6EA172CD83}"/>
              </a:ext>
            </a:extLst>
          </p:cNvPr>
          <p:cNvSpPr txBox="1"/>
          <p:nvPr/>
        </p:nvSpPr>
        <p:spPr>
          <a:xfrm>
            <a:off x="574431" y="1364694"/>
            <a:ext cx="10904548" cy="38364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dirty="0">
                <a:solidFill>
                  <a:srgbClr val="FDCF60"/>
                </a:solidFill>
                <a:ea typeface="+mn-lt"/>
                <a:cs typeface="+mn-lt"/>
              </a:rPr>
              <a:t>Parking Occupancy Detection</a:t>
            </a:r>
            <a:endParaRPr lang="en-US">
              <a:solidFill>
                <a:srgbClr val="FDCF60"/>
              </a:solidFill>
            </a:endParaRPr>
          </a:p>
          <a:p>
            <a:pPr marL="285750" indent="-285750">
              <a:lnSpc>
                <a:spcPct val="150000"/>
              </a:lnSpc>
              <a:buFont typeface="Arial"/>
              <a:buChar char="•"/>
            </a:pPr>
            <a:r>
              <a:rPr lang="en-US" sz="1600" dirty="0">
                <a:ea typeface="+mn-lt"/>
                <a:cs typeface="+mn-lt"/>
              </a:rPr>
              <a:t>Methodology aims to address parking space congestion through a deep learning-based framework.</a:t>
            </a:r>
          </a:p>
          <a:p>
            <a:pPr marL="285750" indent="-285750">
              <a:lnSpc>
                <a:spcPct val="150000"/>
              </a:lnSpc>
              <a:buFont typeface="Arial"/>
              <a:buChar char="•"/>
            </a:pPr>
            <a:r>
              <a:rPr lang="en-US" sz="1600" dirty="0">
                <a:ea typeface="+mn-lt"/>
                <a:cs typeface="+mn-lt"/>
              </a:rPr>
              <a:t>The process involves utilizing surveillance cameras installed in parking spaces to provide real-time footage</a:t>
            </a:r>
          </a:p>
          <a:p>
            <a:pPr marL="285750" indent="-285750">
              <a:lnSpc>
                <a:spcPct val="150000"/>
              </a:lnSpc>
              <a:buFont typeface="Arial"/>
              <a:buChar char="•"/>
            </a:pPr>
            <a:r>
              <a:rPr lang="en-US" sz="1600" dirty="0"/>
              <a:t>This </a:t>
            </a:r>
            <a:r>
              <a:rPr lang="en-US" sz="1600" dirty="0">
                <a:solidFill>
                  <a:srgbClr val="FDCF60"/>
                </a:solidFill>
              </a:rPr>
              <a:t>footage is fed</a:t>
            </a:r>
            <a:r>
              <a:rPr lang="en-US" sz="1600" dirty="0"/>
              <a:t> into a system, and it will </a:t>
            </a:r>
            <a:r>
              <a:rPr lang="en-US" sz="1600" dirty="0">
                <a:solidFill>
                  <a:srgbClr val="FDCF60"/>
                </a:solidFill>
              </a:rPr>
              <a:t>detect as slot</a:t>
            </a:r>
            <a:r>
              <a:rPr lang="en-US" sz="1600" dirty="0"/>
              <a:t> are classified as </a:t>
            </a:r>
            <a:r>
              <a:rPr lang="en-US" sz="1600" dirty="0">
                <a:solidFill>
                  <a:srgbClr val="FDCF60"/>
                </a:solidFill>
              </a:rPr>
              <a:t>free or occupied</a:t>
            </a:r>
            <a:r>
              <a:rPr lang="en-US" sz="1600" dirty="0"/>
              <a:t> </a:t>
            </a:r>
            <a:r>
              <a:rPr lang="en-US" sz="1600" dirty="0">
                <a:solidFill>
                  <a:srgbClr val="FFFFFF"/>
                </a:solidFill>
              </a:rPr>
              <a:t>spaces</a:t>
            </a:r>
            <a:r>
              <a:rPr lang="en-US" sz="1600" dirty="0"/>
              <a:t>, </a:t>
            </a:r>
            <a:r>
              <a:rPr lang="en-US" sz="1600" dirty="0">
                <a:ea typeface="+mn-lt"/>
                <a:cs typeface="+mn-lt"/>
              </a:rPr>
              <a:t>with live updates sent to a hosted server connected to mobile and web applications.</a:t>
            </a:r>
          </a:p>
          <a:p>
            <a:pPr>
              <a:lnSpc>
                <a:spcPct val="150000"/>
              </a:lnSpc>
            </a:pPr>
            <a:endParaRPr lang="en-US" sz="1600" dirty="0">
              <a:ea typeface="+mn-lt"/>
              <a:cs typeface="+mn-lt"/>
            </a:endParaRPr>
          </a:p>
          <a:p>
            <a:pPr>
              <a:lnSpc>
                <a:spcPct val="150000"/>
              </a:lnSpc>
            </a:pPr>
            <a:r>
              <a:rPr lang="en-US" dirty="0">
                <a:solidFill>
                  <a:srgbClr val="FDCF60"/>
                </a:solidFill>
                <a:ea typeface="+mn-lt"/>
                <a:cs typeface="+mn-lt"/>
              </a:rPr>
              <a:t>Parking Space Prediction</a:t>
            </a:r>
            <a:endParaRPr lang="en-US">
              <a:solidFill>
                <a:srgbClr val="FDCF60"/>
              </a:solidFill>
            </a:endParaRPr>
          </a:p>
          <a:p>
            <a:pPr marL="285750" indent="-285750">
              <a:lnSpc>
                <a:spcPct val="150000"/>
              </a:lnSpc>
              <a:buFont typeface="Arial"/>
              <a:buChar char="•"/>
            </a:pPr>
            <a:r>
              <a:rPr lang="en-US" sz="1600" dirty="0">
                <a:ea typeface="+mn-lt"/>
                <a:cs typeface="+mn-lt"/>
              </a:rPr>
              <a:t>The Recurrent Neural Network (RNN) model processes the data over time, incorporating factors such as day, time, and weather conditions. While initial accuracy may vary, the accumulation of a large dataset with diverse conditions is expected to improve predictive results through a LSTM model [6].</a:t>
            </a:r>
          </a:p>
        </p:txBody>
      </p:sp>
    </p:spTree>
    <p:extLst>
      <p:ext uri="{BB962C8B-B14F-4D97-AF65-F5344CB8AC3E}">
        <p14:creationId xmlns:p14="http://schemas.microsoft.com/office/powerpoint/2010/main" val="3848508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9840EC-D082-5F50-8C4D-69E10D6B4E45}"/>
              </a:ext>
            </a:extLst>
          </p:cNvPr>
          <p:cNvSpPr>
            <a:spLocks noGrp="1"/>
          </p:cNvSpPr>
          <p:nvPr>
            <p:ph type="sldNum" sz="quarter" idx="12"/>
          </p:nvPr>
        </p:nvSpPr>
        <p:spPr/>
        <p:txBody>
          <a:bodyPr/>
          <a:lstStyle/>
          <a:p>
            <a:fld id="{4CD77608-3819-479B-BB98-C216BA724EFE}" type="slidenum">
              <a:rPr lang="en-US" smtClean="0"/>
              <a:t>6</a:t>
            </a:fld>
            <a:endParaRPr lang="en-US"/>
          </a:p>
        </p:txBody>
      </p:sp>
      <p:sp>
        <p:nvSpPr>
          <p:cNvPr id="2" name="Footer Placeholder 1">
            <a:extLst>
              <a:ext uri="{FF2B5EF4-FFF2-40B4-BE49-F238E27FC236}">
                <a16:creationId xmlns:a16="http://schemas.microsoft.com/office/drawing/2014/main" id="{3EEBE474-AA6A-63A1-84C0-26CA0A5AC0C7}"/>
              </a:ext>
            </a:extLst>
          </p:cNvPr>
          <p:cNvSpPr>
            <a:spLocks noGrp="1"/>
          </p:cNvSpPr>
          <p:nvPr>
            <p:ph type="ftr" sz="quarter" idx="11"/>
          </p:nvPr>
        </p:nvSpPr>
        <p:spPr/>
        <p:txBody>
          <a:bodyPr/>
          <a:lstStyle/>
          <a:p>
            <a:endParaRPr lang="en-US"/>
          </a:p>
        </p:txBody>
      </p:sp>
      <p:sp>
        <p:nvSpPr>
          <p:cNvPr id="5" name="TextBox 4">
            <a:extLst>
              <a:ext uri="{FF2B5EF4-FFF2-40B4-BE49-F238E27FC236}">
                <a16:creationId xmlns:a16="http://schemas.microsoft.com/office/drawing/2014/main" id="{DF75BA7F-CB58-05E7-BDCB-268BB7A7521A}"/>
              </a:ext>
            </a:extLst>
          </p:cNvPr>
          <p:cNvSpPr txBox="1"/>
          <p:nvPr/>
        </p:nvSpPr>
        <p:spPr>
          <a:xfrm>
            <a:off x="537117" y="605618"/>
            <a:ext cx="1089879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Methodology</a:t>
            </a:r>
            <a:endParaRPr lang="en-US" sz="2400" dirty="0">
              <a:ea typeface="+mn-lt"/>
              <a:cs typeface="+mn-lt"/>
            </a:endParaRPr>
          </a:p>
        </p:txBody>
      </p:sp>
      <p:cxnSp>
        <p:nvCxnSpPr>
          <p:cNvPr id="9" name="Straight Arrow Connector 8">
            <a:extLst>
              <a:ext uri="{FF2B5EF4-FFF2-40B4-BE49-F238E27FC236}">
                <a16:creationId xmlns:a16="http://schemas.microsoft.com/office/drawing/2014/main" id="{42AC460B-8EEF-0262-4C86-E2AD56BE86E4}"/>
              </a:ext>
            </a:extLst>
          </p:cNvPr>
          <p:cNvCxnSpPr/>
          <p:nvPr/>
        </p:nvCxnSpPr>
        <p:spPr>
          <a:xfrm>
            <a:off x="577773" y="1113312"/>
            <a:ext cx="10905433" cy="7220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1DE070-493F-0876-AB6F-ED6EA172CD83}"/>
              </a:ext>
            </a:extLst>
          </p:cNvPr>
          <p:cNvSpPr txBox="1"/>
          <p:nvPr/>
        </p:nvSpPr>
        <p:spPr>
          <a:xfrm>
            <a:off x="7829087" y="1949242"/>
            <a:ext cx="3649891" cy="35030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1600" dirty="0">
                <a:ea typeface="+mn-lt"/>
                <a:cs typeface="+mn-lt"/>
              </a:rPr>
              <a:t>The live stream frames are input into an anomaly detection model to identify parking space anomalies, including theft, accidents, explosions, and fights [4, 5]. </a:t>
            </a:r>
            <a:endParaRPr lang="en-US" dirty="0">
              <a:ea typeface="+mn-lt"/>
              <a:cs typeface="+mn-lt"/>
            </a:endParaRPr>
          </a:p>
          <a:p>
            <a:pPr marL="285750" indent="-285750">
              <a:lnSpc>
                <a:spcPct val="150000"/>
              </a:lnSpc>
              <a:spcBef>
                <a:spcPts val="1000"/>
              </a:spcBef>
              <a:buFont typeface="Arial"/>
              <a:buChar char="•"/>
            </a:pPr>
            <a:r>
              <a:rPr lang="en-US" sz="1600" dirty="0">
                <a:ea typeface="+mn-lt"/>
                <a:cs typeface="+mn-lt"/>
              </a:rPr>
              <a:t>Notifications about these activities are sent to the administrator in real time, enabling quick action.</a:t>
            </a:r>
            <a:endParaRPr lang="en-US"/>
          </a:p>
        </p:txBody>
      </p:sp>
      <p:pic>
        <p:nvPicPr>
          <p:cNvPr id="4" name="Picture 3" descr="A diagram of a computer network">
            <a:extLst>
              <a:ext uri="{FF2B5EF4-FFF2-40B4-BE49-F238E27FC236}">
                <a16:creationId xmlns:a16="http://schemas.microsoft.com/office/drawing/2014/main" id="{F95C26DE-4AFD-12B7-5DE7-93BB5ED43ADE}"/>
              </a:ext>
            </a:extLst>
          </p:cNvPr>
          <p:cNvPicPr>
            <a:picLocks noChangeAspect="1"/>
          </p:cNvPicPr>
          <p:nvPr/>
        </p:nvPicPr>
        <p:blipFill>
          <a:blip r:embed="rId2"/>
          <a:stretch>
            <a:fillRect/>
          </a:stretch>
        </p:blipFill>
        <p:spPr>
          <a:xfrm>
            <a:off x="576590" y="2023344"/>
            <a:ext cx="7187070" cy="3218406"/>
          </a:xfrm>
          <a:prstGeom prst="rect">
            <a:avLst/>
          </a:prstGeom>
        </p:spPr>
      </p:pic>
      <p:sp>
        <p:nvSpPr>
          <p:cNvPr id="6" name="TextBox 5">
            <a:extLst>
              <a:ext uri="{FF2B5EF4-FFF2-40B4-BE49-F238E27FC236}">
                <a16:creationId xmlns:a16="http://schemas.microsoft.com/office/drawing/2014/main" id="{A642C562-423F-8C76-4C37-D40B02D16115}"/>
              </a:ext>
            </a:extLst>
          </p:cNvPr>
          <p:cNvSpPr txBox="1"/>
          <p:nvPr/>
        </p:nvSpPr>
        <p:spPr>
          <a:xfrm>
            <a:off x="538621" y="1488509"/>
            <a:ext cx="48517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FDCF60"/>
                </a:solidFill>
                <a:ea typeface="+mn-lt"/>
                <a:cs typeface="+mn-lt"/>
              </a:rPr>
              <a:t>Anomaly detection using Deep learning</a:t>
            </a:r>
          </a:p>
        </p:txBody>
      </p:sp>
    </p:spTree>
    <p:extLst>
      <p:ext uri="{BB962C8B-B14F-4D97-AF65-F5344CB8AC3E}">
        <p14:creationId xmlns:p14="http://schemas.microsoft.com/office/powerpoint/2010/main" val="1944581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9840EC-D082-5F50-8C4D-69E10D6B4E45}"/>
              </a:ext>
            </a:extLst>
          </p:cNvPr>
          <p:cNvSpPr>
            <a:spLocks noGrp="1"/>
          </p:cNvSpPr>
          <p:nvPr>
            <p:ph type="sldNum" sz="quarter" idx="12"/>
          </p:nvPr>
        </p:nvSpPr>
        <p:spPr/>
        <p:txBody>
          <a:bodyPr/>
          <a:lstStyle/>
          <a:p>
            <a:fld id="{4CD77608-3819-479B-BB98-C216BA724EFE}" type="slidenum">
              <a:rPr lang="en-US" dirty="0" smtClean="0"/>
              <a:t>7</a:t>
            </a:fld>
            <a:endParaRPr lang="en-US" dirty="0"/>
          </a:p>
        </p:txBody>
      </p:sp>
      <p:sp>
        <p:nvSpPr>
          <p:cNvPr id="2" name="Footer Placeholder 1">
            <a:extLst>
              <a:ext uri="{FF2B5EF4-FFF2-40B4-BE49-F238E27FC236}">
                <a16:creationId xmlns:a16="http://schemas.microsoft.com/office/drawing/2014/main" id="{3EEBE474-AA6A-63A1-84C0-26CA0A5AC0C7}"/>
              </a:ext>
            </a:extLst>
          </p:cNvPr>
          <p:cNvSpPr>
            <a:spLocks noGrp="1"/>
          </p:cNvSpPr>
          <p:nvPr>
            <p:ph type="ftr" sz="quarter" idx="11"/>
          </p:nvPr>
        </p:nvSpPr>
        <p:spPr/>
        <p:txBody>
          <a:bodyPr/>
          <a:lstStyle/>
          <a:p>
            <a:endParaRPr lang="en-US"/>
          </a:p>
        </p:txBody>
      </p:sp>
      <p:sp>
        <p:nvSpPr>
          <p:cNvPr id="5" name="TextBox 4">
            <a:extLst>
              <a:ext uri="{FF2B5EF4-FFF2-40B4-BE49-F238E27FC236}">
                <a16:creationId xmlns:a16="http://schemas.microsoft.com/office/drawing/2014/main" id="{DF75BA7F-CB58-05E7-BDCB-268BB7A7521A}"/>
              </a:ext>
            </a:extLst>
          </p:cNvPr>
          <p:cNvSpPr txBox="1"/>
          <p:nvPr/>
        </p:nvSpPr>
        <p:spPr>
          <a:xfrm>
            <a:off x="537117" y="605618"/>
            <a:ext cx="1089879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ea typeface="+mn-lt"/>
                <a:cs typeface="+mn-lt"/>
              </a:rPr>
              <a:t>Experiments </a:t>
            </a:r>
            <a:endParaRPr lang="en-US" b="1" dirty="0"/>
          </a:p>
        </p:txBody>
      </p:sp>
      <p:cxnSp>
        <p:nvCxnSpPr>
          <p:cNvPr id="9" name="Straight Arrow Connector 8">
            <a:extLst>
              <a:ext uri="{FF2B5EF4-FFF2-40B4-BE49-F238E27FC236}">
                <a16:creationId xmlns:a16="http://schemas.microsoft.com/office/drawing/2014/main" id="{42AC460B-8EEF-0262-4C86-E2AD56BE86E4}"/>
              </a:ext>
            </a:extLst>
          </p:cNvPr>
          <p:cNvCxnSpPr/>
          <p:nvPr/>
        </p:nvCxnSpPr>
        <p:spPr>
          <a:xfrm>
            <a:off x="577773" y="1144627"/>
            <a:ext cx="10300009" cy="40888"/>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1DE070-493F-0876-AB6F-ED6EA172CD83}"/>
              </a:ext>
            </a:extLst>
          </p:cNvPr>
          <p:cNvSpPr txBox="1"/>
          <p:nvPr/>
        </p:nvSpPr>
        <p:spPr>
          <a:xfrm>
            <a:off x="657938" y="1594338"/>
            <a:ext cx="10445261" cy="29540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dirty="0">
                <a:ea typeface="+mn-lt"/>
                <a:cs typeface="+mn-lt"/>
              </a:rPr>
              <a:t>The authors performed experiments using the </a:t>
            </a:r>
            <a:r>
              <a:rPr lang="en-US" err="1">
                <a:solidFill>
                  <a:srgbClr val="FDCF60"/>
                </a:solidFill>
                <a:ea typeface="+mn-lt"/>
                <a:cs typeface="+mn-lt"/>
              </a:rPr>
              <a:t>CNRPark</a:t>
            </a:r>
            <a:r>
              <a:rPr lang="en-US" dirty="0">
                <a:solidFill>
                  <a:srgbClr val="FDCF60"/>
                </a:solidFill>
                <a:ea typeface="+mn-lt"/>
                <a:cs typeface="+mn-lt"/>
              </a:rPr>
              <a:t> datasets</a:t>
            </a:r>
            <a:r>
              <a:rPr lang="en-US" dirty="0">
                <a:ea typeface="+mn-lt"/>
                <a:cs typeface="+mn-lt"/>
              </a:rPr>
              <a:t>, particularly </a:t>
            </a:r>
            <a:r>
              <a:rPr lang="en-US" err="1">
                <a:ea typeface="+mn-lt"/>
                <a:cs typeface="+mn-lt"/>
              </a:rPr>
              <a:t>CNRPark+EXT</a:t>
            </a:r>
            <a:r>
              <a:rPr lang="en-US" dirty="0">
                <a:ea typeface="+mn-lt"/>
                <a:cs typeface="+mn-lt"/>
              </a:rPr>
              <a:t>, consisting of approximately </a:t>
            </a:r>
            <a:r>
              <a:rPr lang="en-US" dirty="0">
                <a:solidFill>
                  <a:srgbClr val="FDCF60"/>
                </a:solidFill>
                <a:ea typeface="+mn-lt"/>
                <a:cs typeface="+mn-lt"/>
              </a:rPr>
              <a:t>150,000 labeled images</a:t>
            </a:r>
            <a:r>
              <a:rPr lang="en-US" dirty="0">
                <a:ea typeface="+mn-lt"/>
                <a:cs typeface="+mn-lt"/>
              </a:rPr>
              <a:t> [1, 2].</a:t>
            </a:r>
          </a:p>
          <a:p>
            <a:pPr marL="285750" indent="-285750">
              <a:lnSpc>
                <a:spcPct val="150000"/>
              </a:lnSpc>
              <a:buFont typeface="Arial"/>
              <a:buChar char="•"/>
            </a:pPr>
            <a:r>
              <a:rPr lang="en-US" dirty="0">
                <a:ea typeface="+mn-lt"/>
                <a:cs typeface="+mn-lt"/>
              </a:rPr>
              <a:t>Training and validation were conducted on a Convolutional Neural Network (CNN) model, utilizing </a:t>
            </a:r>
            <a:r>
              <a:rPr lang="en-US" dirty="0">
                <a:solidFill>
                  <a:srgbClr val="FDCF60"/>
                </a:solidFill>
                <a:ea typeface="+mn-lt"/>
                <a:cs typeface="+mn-lt"/>
              </a:rPr>
              <a:t>70% of the data for training and 30% for validation</a:t>
            </a:r>
            <a:r>
              <a:rPr lang="en-US" dirty="0">
                <a:ea typeface="+mn-lt"/>
                <a:cs typeface="+mn-lt"/>
              </a:rPr>
              <a:t>.</a:t>
            </a:r>
          </a:p>
          <a:p>
            <a:pPr marL="285750" indent="-285750">
              <a:lnSpc>
                <a:spcPct val="150000"/>
              </a:lnSpc>
              <a:buFont typeface="Arial"/>
              <a:buChar char="•"/>
            </a:pPr>
            <a:r>
              <a:rPr lang="en-US" dirty="0">
                <a:ea typeface="+mn-lt"/>
                <a:cs typeface="+mn-lt"/>
              </a:rPr>
              <a:t>The dataset, collected from November 2015 to February 2016, includes various weather conditions and nine cameras with different perspectives capturing diverse situations, including partial occlusion patterns caused by obstacles like trees and lampposts.</a:t>
            </a:r>
            <a:endParaRPr lang="en-US" dirty="0"/>
          </a:p>
        </p:txBody>
      </p:sp>
    </p:spTree>
    <p:extLst>
      <p:ext uri="{BB962C8B-B14F-4D97-AF65-F5344CB8AC3E}">
        <p14:creationId xmlns:p14="http://schemas.microsoft.com/office/powerpoint/2010/main" val="1668566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9840EC-D082-5F50-8C4D-69E10D6B4E45}"/>
              </a:ext>
            </a:extLst>
          </p:cNvPr>
          <p:cNvSpPr>
            <a:spLocks noGrp="1"/>
          </p:cNvSpPr>
          <p:nvPr>
            <p:ph type="sldNum" sz="quarter" idx="12"/>
          </p:nvPr>
        </p:nvSpPr>
        <p:spPr/>
        <p:txBody>
          <a:bodyPr/>
          <a:lstStyle/>
          <a:p>
            <a:fld id="{4CD77608-3819-479B-BB98-C216BA724EFE}" type="slidenum">
              <a:rPr lang="en-US" dirty="0" smtClean="0"/>
              <a:t>8</a:t>
            </a:fld>
            <a:endParaRPr lang="en-US" dirty="0"/>
          </a:p>
        </p:txBody>
      </p:sp>
      <p:sp>
        <p:nvSpPr>
          <p:cNvPr id="2" name="Footer Placeholder 1">
            <a:extLst>
              <a:ext uri="{FF2B5EF4-FFF2-40B4-BE49-F238E27FC236}">
                <a16:creationId xmlns:a16="http://schemas.microsoft.com/office/drawing/2014/main" id="{3EEBE474-AA6A-63A1-84C0-26CA0A5AC0C7}"/>
              </a:ext>
            </a:extLst>
          </p:cNvPr>
          <p:cNvSpPr>
            <a:spLocks noGrp="1"/>
          </p:cNvSpPr>
          <p:nvPr>
            <p:ph type="ftr" sz="quarter" idx="11"/>
          </p:nvPr>
        </p:nvSpPr>
        <p:spPr/>
        <p:txBody>
          <a:bodyPr/>
          <a:lstStyle/>
          <a:p>
            <a:endParaRPr lang="en-US"/>
          </a:p>
        </p:txBody>
      </p:sp>
      <p:sp>
        <p:nvSpPr>
          <p:cNvPr id="5" name="TextBox 4">
            <a:extLst>
              <a:ext uri="{FF2B5EF4-FFF2-40B4-BE49-F238E27FC236}">
                <a16:creationId xmlns:a16="http://schemas.microsoft.com/office/drawing/2014/main" id="{DF75BA7F-CB58-05E7-BDCB-268BB7A7521A}"/>
              </a:ext>
            </a:extLst>
          </p:cNvPr>
          <p:cNvSpPr txBox="1"/>
          <p:nvPr/>
        </p:nvSpPr>
        <p:spPr>
          <a:xfrm>
            <a:off x="537117" y="605618"/>
            <a:ext cx="1089879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Results</a:t>
            </a:r>
            <a:endParaRPr lang="en-US" dirty="0"/>
          </a:p>
        </p:txBody>
      </p:sp>
      <p:cxnSp>
        <p:nvCxnSpPr>
          <p:cNvPr id="9" name="Straight Arrow Connector 8">
            <a:extLst>
              <a:ext uri="{FF2B5EF4-FFF2-40B4-BE49-F238E27FC236}">
                <a16:creationId xmlns:a16="http://schemas.microsoft.com/office/drawing/2014/main" id="{42AC460B-8EEF-0262-4C86-E2AD56BE86E4}"/>
              </a:ext>
            </a:extLst>
          </p:cNvPr>
          <p:cNvCxnSpPr/>
          <p:nvPr/>
        </p:nvCxnSpPr>
        <p:spPr>
          <a:xfrm>
            <a:off x="577773" y="1144627"/>
            <a:ext cx="10300009" cy="40888"/>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1DE070-493F-0876-AB6F-ED6EA172CD83}"/>
              </a:ext>
            </a:extLst>
          </p:cNvPr>
          <p:cNvSpPr txBox="1"/>
          <p:nvPr/>
        </p:nvSpPr>
        <p:spPr>
          <a:xfrm>
            <a:off x="574431" y="1594338"/>
            <a:ext cx="10445261" cy="33695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dirty="0">
                <a:ea typeface="+mn-lt"/>
                <a:cs typeface="+mn-lt"/>
              </a:rPr>
              <a:t>The authors say they made a smart parking system which can tell if a parking space is taken or not with about </a:t>
            </a:r>
            <a:r>
              <a:rPr lang="en-US" dirty="0">
                <a:solidFill>
                  <a:srgbClr val="FDCF60"/>
                </a:solidFill>
                <a:ea typeface="+mn-lt"/>
                <a:cs typeface="+mn-lt"/>
              </a:rPr>
              <a:t>97.5% accuracy</a:t>
            </a:r>
            <a:r>
              <a:rPr lang="en-US" dirty="0">
                <a:ea typeface="+mn-lt"/>
                <a:cs typeface="+mn-lt"/>
              </a:rPr>
              <a:t>. It works well in different weather like sunny or rainy days.</a:t>
            </a:r>
          </a:p>
          <a:p>
            <a:pPr marL="285750" indent="-285750">
              <a:lnSpc>
                <a:spcPct val="150000"/>
              </a:lnSpc>
              <a:buFont typeface="Arial"/>
              <a:buChar char="•"/>
            </a:pPr>
            <a:r>
              <a:rPr lang="en-US" dirty="0">
                <a:ea typeface="+mn-lt"/>
                <a:cs typeface="+mn-lt"/>
              </a:rPr>
              <a:t>The system is quick, taking only </a:t>
            </a:r>
            <a:r>
              <a:rPr lang="en-US" dirty="0">
                <a:solidFill>
                  <a:srgbClr val="FDCF60"/>
                </a:solidFill>
                <a:ea typeface="+mn-lt"/>
                <a:cs typeface="+mn-lt"/>
              </a:rPr>
              <a:t>2 seconds to check all parking spaces</a:t>
            </a:r>
            <a:r>
              <a:rPr lang="en-US" dirty="0">
                <a:ea typeface="+mn-lt"/>
                <a:cs typeface="+mn-lt"/>
              </a:rPr>
              <a:t> in one picture.</a:t>
            </a:r>
          </a:p>
          <a:p>
            <a:pPr marL="285750" indent="-285750">
              <a:lnSpc>
                <a:spcPct val="150000"/>
              </a:lnSpc>
              <a:buFont typeface="Arial"/>
              <a:buChar char="•"/>
            </a:pPr>
            <a:r>
              <a:rPr lang="en-US" dirty="0">
                <a:ea typeface="+mn-lt"/>
                <a:cs typeface="+mn-lt"/>
              </a:rPr>
              <a:t>The system can even predict when </a:t>
            </a:r>
            <a:r>
              <a:rPr lang="en-US" dirty="0">
                <a:solidFill>
                  <a:srgbClr val="FDCF60"/>
                </a:solidFill>
                <a:ea typeface="+mn-lt"/>
                <a:cs typeface="+mn-lt"/>
              </a:rPr>
              <a:t>traffic will be busiest</a:t>
            </a:r>
            <a:r>
              <a:rPr lang="en-US" dirty="0">
                <a:ea typeface="+mn-lt"/>
                <a:cs typeface="+mn-lt"/>
              </a:rPr>
              <a:t>, so people can </a:t>
            </a:r>
            <a:r>
              <a:rPr lang="en-US" dirty="0">
                <a:solidFill>
                  <a:srgbClr val="FDCF60"/>
                </a:solidFill>
                <a:ea typeface="+mn-lt"/>
                <a:cs typeface="+mn-lt"/>
              </a:rPr>
              <a:t>plan and book parking spots</a:t>
            </a:r>
            <a:r>
              <a:rPr lang="en-US" dirty="0">
                <a:ea typeface="+mn-lt"/>
                <a:cs typeface="+mn-lt"/>
              </a:rPr>
              <a:t> in advance.</a:t>
            </a:r>
          </a:p>
          <a:p>
            <a:pPr marL="285750" indent="-285750">
              <a:lnSpc>
                <a:spcPct val="150000"/>
              </a:lnSpc>
              <a:buFont typeface="Arial"/>
              <a:buChar char="•"/>
            </a:pPr>
            <a:r>
              <a:rPr lang="en-US" dirty="0">
                <a:ea typeface="+mn-lt"/>
                <a:cs typeface="+mn-lt"/>
              </a:rPr>
              <a:t>The authors made sure the </a:t>
            </a:r>
            <a:r>
              <a:rPr lang="en-US" dirty="0">
                <a:solidFill>
                  <a:srgbClr val="FDCF60"/>
                </a:solidFill>
                <a:ea typeface="+mn-lt"/>
                <a:cs typeface="+mn-lt"/>
              </a:rPr>
              <a:t>system runs by itself</a:t>
            </a:r>
            <a:r>
              <a:rPr lang="en-US" dirty="0">
                <a:ea typeface="+mn-lt"/>
                <a:cs typeface="+mn-lt"/>
              </a:rPr>
              <a:t> without needing people to help. They also added a </a:t>
            </a:r>
            <a:r>
              <a:rPr lang="en-US" dirty="0">
                <a:solidFill>
                  <a:srgbClr val="FDCF60"/>
                </a:solidFill>
                <a:ea typeface="+mn-lt"/>
                <a:cs typeface="+mn-lt"/>
              </a:rPr>
              <a:t>smart security system</a:t>
            </a:r>
            <a:r>
              <a:rPr lang="en-US" dirty="0">
                <a:ea typeface="+mn-lt"/>
                <a:cs typeface="+mn-lt"/>
              </a:rPr>
              <a:t> to watch for </a:t>
            </a:r>
            <a:r>
              <a:rPr lang="en-US" dirty="0">
                <a:solidFill>
                  <a:srgbClr val="FDCF60"/>
                </a:solidFill>
                <a:ea typeface="+mn-lt"/>
                <a:cs typeface="+mn-lt"/>
              </a:rPr>
              <a:t>13 different issues</a:t>
            </a:r>
            <a:r>
              <a:rPr lang="en-US" dirty="0">
                <a:ea typeface="+mn-lt"/>
                <a:cs typeface="+mn-lt"/>
              </a:rPr>
              <a:t> like Accident, Stealing, Fighting, Explosion, and many more.</a:t>
            </a:r>
          </a:p>
        </p:txBody>
      </p:sp>
    </p:spTree>
    <p:extLst>
      <p:ext uri="{BB962C8B-B14F-4D97-AF65-F5344CB8AC3E}">
        <p14:creationId xmlns:p14="http://schemas.microsoft.com/office/powerpoint/2010/main" val="2775055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9840EC-D082-5F50-8C4D-69E10D6B4E45}"/>
              </a:ext>
            </a:extLst>
          </p:cNvPr>
          <p:cNvSpPr>
            <a:spLocks noGrp="1"/>
          </p:cNvSpPr>
          <p:nvPr>
            <p:ph type="sldNum" sz="quarter" idx="12"/>
          </p:nvPr>
        </p:nvSpPr>
        <p:spPr/>
        <p:txBody>
          <a:bodyPr/>
          <a:lstStyle/>
          <a:p>
            <a:fld id="{4CD77608-3819-479B-BB98-C216BA724EFE}" type="slidenum">
              <a:rPr lang="en-US" dirty="0" smtClean="0"/>
              <a:t>9</a:t>
            </a:fld>
            <a:endParaRPr lang="en-US" dirty="0"/>
          </a:p>
        </p:txBody>
      </p:sp>
      <p:sp>
        <p:nvSpPr>
          <p:cNvPr id="2" name="Footer Placeholder 1">
            <a:extLst>
              <a:ext uri="{FF2B5EF4-FFF2-40B4-BE49-F238E27FC236}">
                <a16:creationId xmlns:a16="http://schemas.microsoft.com/office/drawing/2014/main" id="{3EEBE474-AA6A-63A1-84C0-26CA0A5AC0C7}"/>
              </a:ext>
            </a:extLst>
          </p:cNvPr>
          <p:cNvSpPr>
            <a:spLocks noGrp="1"/>
          </p:cNvSpPr>
          <p:nvPr>
            <p:ph type="ftr" sz="quarter" idx="11"/>
          </p:nvPr>
        </p:nvSpPr>
        <p:spPr/>
        <p:txBody>
          <a:bodyPr/>
          <a:lstStyle/>
          <a:p>
            <a:endParaRPr lang="en-US"/>
          </a:p>
        </p:txBody>
      </p:sp>
      <p:sp>
        <p:nvSpPr>
          <p:cNvPr id="5" name="TextBox 4">
            <a:extLst>
              <a:ext uri="{FF2B5EF4-FFF2-40B4-BE49-F238E27FC236}">
                <a16:creationId xmlns:a16="http://schemas.microsoft.com/office/drawing/2014/main" id="{DF75BA7F-CB58-05E7-BDCB-268BB7A7521A}"/>
              </a:ext>
            </a:extLst>
          </p:cNvPr>
          <p:cNvSpPr txBox="1"/>
          <p:nvPr/>
        </p:nvSpPr>
        <p:spPr>
          <a:xfrm>
            <a:off x="537117" y="605618"/>
            <a:ext cx="1089879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Discussion</a:t>
            </a:r>
            <a:endParaRPr lang="en-US" dirty="0"/>
          </a:p>
        </p:txBody>
      </p:sp>
      <p:cxnSp>
        <p:nvCxnSpPr>
          <p:cNvPr id="9" name="Straight Arrow Connector 8">
            <a:extLst>
              <a:ext uri="{FF2B5EF4-FFF2-40B4-BE49-F238E27FC236}">
                <a16:creationId xmlns:a16="http://schemas.microsoft.com/office/drawing/2014/main" id="{42AC460B-8EEF-0262-4C86-E2AD56BE86E4}"/>
              </a:ext>
            </a:extLst>
          </p:cNvPr>
          <p:cNvCxnSpPr/>
          <p:nvPr/>
        </p:nvCxnSpPr>
        <p:spPr>
          <a:xfrm>
            <a:off x="577773" y="1144627"/>
            <a:ext cx="10300009" cy="40888"/>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1DE070-493F-0876-AB6F-ED6EA172CD83}"/>
              </a:ext>
            </a:extLst>
          </p:cNvPr>
          <p:cNvSpPr txBox="1"/>
          <p:nvPr/>
        </p:nvSpPr>
        <p:spPr>
          <a:xfrm>
            <a:off x="574431" y="1594338"/>
            <a:ext cx="10445261" cy="33695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dirty="0">
                <a:ea typeface="+mn-lt"/>
                <a:cs typeface="+mn-lt"/>
              </a:rPr>
              <a:t>The research introduces a promising solution for urban parking challenges through the integration of Convolutional Neural Networks (CNN) and Long Short-Term Memory (LSTM) models.</a:t>
            </a:r>
          </a:p>
          <a:p>
            <a:pPr marL="285750" indent="-285750">
              <a:lnSpc>
                <a:spcPct val="150000"/>
              </a:lnSpc>
              <a:buFont typeface="Arial"/>
              <a:buChar char="•"/>
            </a:pPr>
            <a:r>
              <a:rPr lang="en-US" dirty="0"/>
              <a:t>However, this research does not provide the </a:t>
            </a:r>
            <a:r>
              <a:rPr lang="en-US" dirty="0">
                <a:ea typeface="+mn-lt"/>
                <a:cs typeface="+mn-lt"/>
              </a:rPr>
              <a:t>potential challenges may arise from factors like varying camera heights and image clarity, impacting detection accuracy. </a:t>
            </a:r>
          </a:p>
          <a:p>
            <a:pPr marL="285750" indent="-285750">
              <a:lnSpc>
                <a:spcPct val="150000"/>
              </a:lnSpc>
              <a:buFont typeface="Arial"/>
              <a:buChar char="•"/>
            </a:pPr>
            <a:r>
              <a:rPr lang="en-US" dirty="0"/>
              <a:t>Moreover, research falls short in addressing critical aspects such as real-world implementation challenges, potential issues with user acceptance and </a:t>
            </a:r>
            <a:r>
              <a:rPr lang="en-US" dirty="0">
                <a:solidFill>
                  <a:srgbClr val="FFFFFF"/>
                </a:solidFill>
                <a:ea typeface="+mn-lt"/>
                <a:cs typeface="+mn-lt"/>
              </a:rPr>
              <a:t>the adaptability of the proposed system to diverse scenarios.</a:t>
            </a:r>
            <a:endParaRPr lang="en-US" dirty="0"/>
          </a:p>
        </p:txBody>
      </p:sp>
    </p:spTree>
    <p:extLst>
      <p:ext uri="{BB962C8B-B14F-4D97-AF65-F5344CB8AC3E}">
        <p14:creationId xmlns:p14="http://schemas.microsoft.com/office/powerpoint/2010/main" val="3149311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9840EC-D082-5F50-8C4D-69E10D6B4E45}"/>
              </a:ext>
            </a:extLst>
          </p:cNvPr>
          <p:cNvSpPr>
            <a:spLocks noGrp="1"/>
          </p:cNvSpPr>
          <p:nvPr>
            <p:ph type="sldNum" sz="quarter" idx="12"/>
          </p:nvPr>
        </p:nvSpPr>
        <p:spPr/>
        <p:txBody>
          <a:bodyPr/>
          <a:lstStyle/>
          <a:p>
            <a:fld id="{4CD77608-3819-479B-BB98-C216BA724EFE}" type="slidenum">
              <a:rPr lang="en-US" dirty="0" smtClean="0"/>
              <a:t>10</a:t>
            </a:fld>
            <a:endParaRPr lang="en-US" dirty="0"/>
          </a:p>
        </p:txBody>
      </p:sp>
      <p:sp>
        <p:nvSpPr>
          <p:cNvPr id="2" name="Footer Placeholder 1">
            <a:extLst>
              <a:ext uri="{FF2B5EF4-FFF2-40B4-BE49-F238E27FC236}">
                <a16:creationId xmlns:a16="http://schemas.microsoft.com/office/drawing/2014/main" id="{3EEBE474-AA6A-63A1-84C0-26CA0A5AC0C7}"/>
              </a:ext>
            </a:extLst>
          </p:cNvPr>
          <p:cNvSpPr>
            <a:spLocks noGrp="1"/>
          </p:cNvSpPr>
          <p:nvPr>
            <p:ph type="ftr" sz="quarter" idx="11"/>
          </p:nvPr>
        </p:nvSpPr>
        <p:spPr/>
        <p:txBody>
          <a:bodyPr/>
          <a:lstStyle/>
          <a:p>
            <a:endParaRPr lang="en-US"/>
          </a:p>
        </p:txBody>
      </p:sp>
      <p:sp>
        <p:nvSpPr>
          <p:cNvPr id="5" name="TextBox 4">
            <a:extLst>
              <a:ext uri="{FF2B5EF4-FFF2-40B4-BE49-F238E27FC236}">
                <a16:creationId xmlns:a16="http://schemas.microsoft.com/office/drawing/2014/main" id="{DF75BA7F-CB58-05E7-BDCB-268BB7A7521A}"/>
              </a:ext>
            </a:extLst>
          </p:cNvPr>
          <p:cNvSpPr txBox="1"/>
          <p:nvPr/>
        </p:nvSpPr>
        <p:spPr>
          <a:xfrm>
            <a:off x="537117" y="605618"/>
            <a:ext cx="1089879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Conclusion</a:t>
            </a:r>
            <a:endParaRPr lang="en-US" dirty="0"/>
          </a:p>
        </p:txBody>
      </p:sp>
      <p:cxnSp>
        <p:nvCxnSpPr>
          <p:cNvPr id="9" name="Straight Arrow Connector 8">
            <a:extLst>
              <a:ext uri="{FF2B5EF4-FFF2-40B4-BE49-F238E27FC236}">
                <a16:creationId xmlns:a16="http://schemas.microsoft.com/office/drawing/2014/main" id="{42AC460B-8EEF-0262-4C86-E2AD56BE86E4}"/>
              </a:ext>
            </a:extLst>
          </p:cNvPr>
          <p:cNvCxnSpPr/>
          <p:nvPr/>
        </p:nvCxnSpPr>
        <p:spPr>
          <a:xfrm>
            <a:off x="577773" y="1113312"/>
            <a:ext cx="10863680" cy="51327"/>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E1DE070-493F-0876-AB6F-ED6EA172CD83}"/>
              </a:ext>
            </a:extLst>
          </p:cNvPr>
          <p:cNvSpPr txBox="1"/>
          <p:nvPr/>
        </p:nvSpPr>
        <p:spPr>
          <a:xfrm>
            <a:off x="574431" y="1354256"/>
            <a:ext cx="10685343" cy="2123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dirty="0">
                <a:ea typeface="+mn-lt"/>
                <a:cs typeface="+mn-lt"/>
              </a:rPr>
              <a:t>In conclusion, </a:t>
            </a:r>
            <a:r>
              <a:rPr lang="en-US" dirty="0">
                <a:solidFill>
                  <a:srgbClr val="FDCF60"/>
                </a:solidFill>
                <a:ea typeface="+mn-lt"/>
                <a:cs typeface="+mn-lt"/>
              </a:rPr>
              <a:t>Smart Parking Management System</a:t>
            </a:r>
            <a:r>
              <a:rPr lang="en-US" dirty="0">
                <a:ea typeface="+mn-lt"/>
                <a:cs typeface="+mn-lt"/>
              </a:rPr>
              <a:t>, utilizing deep learning models for </a:t>
            </a:r>
            <a:r>
              <a:rPr lang="en-US" dirty="0">
                <a:solidFill>
                  <a:srgbClr val="FDCF60"/>
                </a:solidFill>
                <a:ea typeface="+mn-lt"/>
                <a:cs typeface="+mn-lt"/>
              </a:rPr>
              <a:t>occupancy detection, space prediction, and anomaly detection</a:t>
            </a:r>
            <a:r>
              <a:rPr lang="en-US" dirty="0">
                <a:ea typeface="+mn-lt"/>
                <a:cs typeface="+mn-lt"/>
              </a:rPr>
              <a:t>, offers an efficient and automated solution. </a:t>
            </a:r>
            <a:endParaRPr lang="en-US"/>
          </a:p>
          <a:p>
            <a:pPr>
              <a:lnSpc>
                <a:spcPct val="150000"/>
              </a:lnSpc>
            </a:pPr>
            <a:endParaRPr lang="en-US" dirty="0">
              <a:ea typeface="+mn-lt"/>
              <a:cs typeface="+mn-lt"/>
            </a:endParaRPr>
          </a:p>
          <a:p>
            <a:pPr marL="285750" indent="-285750">
              <a:lnSpc>
                <a:spcPct val="150000"/>
              </a:lnSpc>
              <a:buFont typeface="Arial"/>
              <a:buChar char="•"/>
            </a:pPr>
            <a:r>
              <a:rPr lang="en-US" dirty="0">
                <a:ea typeface="+mn-lt"/>
                <a:cs typeface="+mn-lt"/>
              </a:rPr>
              <a:t>The system provides a </a:t>
            </a:r>
            <a:r>
              <a:rPr lang="en-US" dirty="0">
                <a:solidFill>
                  <a:srgbClr val="FDCF60"/>
                </a:solidFill>
                <a:ea typeface="+mn-lt"/>
                <a:cs typeface="+mn-lt"/>
              </a:rPr>
              <a:t>cost-effective</a:t>
            </a:r>
            <a:r>
              <a:rPr lang="en-US" dirty="0">
                <a:ea typeface="+mn-lt"/>
                <a:cs typeface="+mn-lt"/>
              </a:rPr>
              <a:t> and </a:t>
            </a:r>
            <a:r>
              <a:rPr lang="en-US" dirty="0">
                <a:solidFill>
                  <a:srgbClr val="FDCF60"/>
                </a:solidFill>
                <a:ea typeface="+mn-lt"/>
                <a:cs typeface="+mn-lt"/>
              </a:rPr>
              <a:t>reliable approach</a:t>
            </a:r>
            <a:r>
              <a:rPr lang="en-US" dirty="0">
                <a:ea typeface="+mn-lt"/>
                <a:cs typeface="+mn-lt"/>
              </a:rPr>
              <a:t> to address the challenges of urban parking, ensuring user convenience and enhancing overall parking space management.</a:t>
            </a:r>
            <a:endParaRPr lang="en-US"/>
          </a:p>
        </p:txBody>
      </p:sp>
    </p:spTree>
    <p:extLst>
      <p:ext uri="{BB962C8B-B14F-4D97-AF65-F5344CB8AC3E}">
        <p14:creationId xmlns:p14="http://schemas.microsoft.com/office/powerpoint/2010/main" val="3176659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4C4628-B288-8DD0-019E-F8305FA031A5}"/>
              </a:ext>
            </a:extLst>
          </p:cNvPr>
          <p:cNvSpPr>
            <a:spLocks noGrp="1"/>
          </p:cNvSpPr>
          <p:nvPr>
            <p:ph type="sldNum" sz="quarter" idx="12"/>
          </p:nvPr>
        </p:nvSpPr>
        <p:spPr/>
        <p:txBody>
          <a:bodyPr/>
          <a:lstStyle/>
          <a:p>
            <a:fld id="{4CD77608-3819-479B-BB98-C216BA724EFE}" type="slidenum">
              <a:rPr lang="en-US" sz="1200" dirty="0" smtClean="0"/>
              <a:t>11</a:t>
            </a:fld>
            <a:endParaRPr lang="en-US" sz="1200"/>
          </a:p>
        </p:txBody>
      </p:sp>
      <p:sp>
        <p:nvSpPr>
          <p:cNvPr id="5" name="TextBox 4">
            <a:extLst>
              <a:ext uri="{FF2B5EF4-FFF2-40B4-BE49-F238E27FC236}">
                <a16:creationId xmlns:a16="http://schemas.microsoft.com/office/drawing/2014/main" id="{3118F1B6-9E84-D35A-A6AA-AED2EE974748}"/>
              </a:ext>
            </a:extLst>
          </p:cNvPr>
          <p:cNvSpPr txBox="1"/>
          <p:nvPr/>
        </p:nvSpPr>
        <p:spPr>
          <a:xfrm>
            <a:off x="578840" y="1496363"/>
            <a:ext cx="10242109" cy="40575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AutoNum type="arabicPeriod"/>
            </a:pPr>
            <a:r>
              <a:rPr lang="en-US" dirty="0">
                <a:ea typeface="+mn-lt"/>
                <a:cs typeface="+mn-lt"/>
              </a:rPr>
              <a:t>Amato, G., et al. (2017). Deep learning for decentralized parking lot occupancy detection. Expert Systems with Applications, 72, 327–334.</a:t>
            </a:r>
            <a:endParaRPr lang="en-US"/>
          </a:p>
          <a:p>
            <a:pPr marL="342900" indent="-342900" algn="just">
              <a:spcBef>
                <a:spcPts val="1000"/>
              </a:spcBef>
              <a:buAutoNum type="arabicPeriod"/>
            </a:pPr>
            <a:r>
              <a:rPr lang="en-US" dirty="0">
                <a:ea typeface="+mn-lt"/>
                <a:cs typeface="+mn-lt"/>
              </a:rPr>
              <a:t>Amato, G., et al. (2016). Car parking occupancy detection using smart camera networks and deep learning. In 2016 IEEE symposium on computers and communication (ISCC). IEEE.</a:t>
            </a:r>
          </a:p>
          <a:p>
            <a:pPr marL="342900" indent="-342900" algn="just">
              <a:spcBef>
                <a:spcPts val="1000"/>
              </a:spcBef>
              <a:buAutoNum type="arabicPeriod"/>
            </a:pPr>
            <a:r>
              <a:rPr lang="en-US" dirty="0">
                <a:ea typeface="+mn-lt"/>
                <a:cs typeface="+mn-lt"/>
              </a:rPr>
              <a:t>Sultani, W., Chen, C., &amp; Shah, M. (2018). Real-world anomaly detection in surveillance videos. In Proceedings of the IEEE conference on computer vision and pattern recognition. IEEE</a:t>
            </a:r>
          </a:p>
          <a:p>
            <a:pPr marL="342900" indent="-342900" algn="just">
              <a:spcBef>
                <a:spcPts val="1000"/>
              </a:spcBef>
              <a:buAutoNum type="arabicPeriod"/>
            </a:pPr>
            <a:r>
              <a:rPr lang="en-US" dirty="0">
                <a:ea typeface="+mn-lt"/>
                <a:cs typeface="+mn-lt"/>
              </a:rPr>
              <a:t>Yadav, S. P., Mahato, D. P., &amp; Linh, N. T. D. (2020). Distributed </a:t>
            </a:r>
            <a:r>
              <a:rPr lang="en-US" err="1">
                <a:ea typeface="+mn-lt"/>
                <a:cs typeface="+mn-lt"/>
              </a:rPr>
              <a:t>artifcial</a:t>
            </a:r>
            <a:r>
              <a:rPr lang="en-US" dirty="0">
                <a:ea typeface="+mn-lt"/>
                <a:cs typeface="+mn-lt"/>
              </a:rPr>
              <a:t> intelligence: A modern approach (1st ed.). CRC Press.</a:t>
            </a:r>
          </a:p>
          <a:p>
            <a:pPr marL="342900" indent="-342900" algn="just">
              <a:spcBef>
                <a:spcPts val="1000"/>
              </a:spcBef>
              <a:buFontTx/>
              <a:buAutoNum type="arabicPeriod"/>
            </a:pPr>
            <a:r>
              <a:rPr lang="en-US" dirty="0">
                <a:ea typeface="+mn-lt"/>
                <a:cs typeface="+mn-lt"/>
              </a:rPr>
              <a:t>Tran, D., et al. (2015). Learning spatiotemporal features with 3d convolutional networks. In Proceedings of the IEEE international conference on computer vision. IEEE.</a:t>
            </a:r>
          </a:p>
          <a:p>
            <a:pPr marL="342900" indent="-342900" algn="just">
              <a:spcBef>
                <a:spcPts val="1000"/>
              </a:spcBef>
              <a:buFontTx/>
              <a:buAutoNum type="arabicPeriod"/>
            </a:pPr>
            <a:r>
              <a:rPr lang="en-US" dirty="0">
                <a:ea typeface="+mn-lt"/>
                <a:cs typeface="+mn-lt"/>
              </a:rPr>
              <a:t>Yadav, S.  P. (2020). Vision-based detection, tracking and </a:t>
            </a:r>
            <a:r>
              <a:rPr lang="en-US" err="1">
                <a:ea typeface="+mn-lt"/>
                <a:cs typeface="+mn-lt"/>
              </a:rPr>
              <a:t>classifcation</a:t>
            </a:r>
            <a:r>
              <a:rPr lang="en-US" dirty="0">
                <a:ea typeface="+mn-lt"/>
                <a:cs typeface="+mn-lt"/>
              </a:rPr>
              <a:t> of vehicles. IEIE Transactions on Smart Processing and Computing, 9(6), 427–434.</a:t>
            </a:r>
            <a:endParaRPr lang="en-US"/>
          </a:p>
        </p:txBody>
      </p:sp>
      <p:sp>
        <p:nvSpPr>
          <p:cNvPr id="3" name="Footer Placeholder 2">
            <a:extLst>
              <a:ext uri="{FF2B5EF4-FFF2-40B4-BE49-F238E27FC236}">
                <a16:creationId xmlns:a16="http://schemas.microsoft.com/office/drawing/2014/main" id="{F47A5E8C-5F8D-06A0-4F07-6969C8CF1350}"/>
              </a:ext>
            </a:extLst>
          </p:cNvPr>
          <p:cNvSpPr>
            <a:spLocks noGrp="1"/>
          </p:cNvSpPr>
          <p:nvPr>
            <p:ph type="ftr" sz="quarter" idx="11"/>
          </p:nvPr>
        </p:nvSpPr>
        <p:spPr/>
        <p:txBody>
          <a:bodyPr/>
          <a:lstStyle/>
          <a:p>
            <a:endParaRPr lang="en-US"/>
          </a:p>
        </p:txBody>
      </p:sp>
      <p:sp>
        <p:nvSpPr>
          <p:cNvPr id="6" name="TextBox 5">
            <a:extLst>
              <a:ext uri="{FF2B5EF4-FFF2-40B4-BE49-F238E27FC236}">
                <a16:creationId xmlns:a16="http://schemas.microsoft.com/office/drawing/2014/main" id="{C24C398E-F6E5-DBAF-C48F-D63603672935}"/>
              </a:ext>
            </a:extLst>
          </p:cNvPr>
          <p:cNvSpPr txBox="1"/>
          <p:nvPr/>
        </p:nvSpPr>
        <p:spPr>
          <a:xfrm>
            <a:off x="537117" y="605618"/>
            <a:ext cx="326890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ea typeface="+mn-lt"/>
                <a:cs typeface="+mn-lt"/>
              </a:rPr>
              <a:t>References </a:t>
            </a:r>
            <a:endParaRPr lang="en-US" b="1"/>
          </a:p>
        </p:txBody>
      </p:sp>
      <p:cxnSp>
        <p:nvCxnSpPr>
          <p:cNvPr id="9" name="Straight Arrow Connector 8">
            <a:extLst>
              <a:ext uri="{FF2B5EF4-FFF2-40B4-BE49-F238E27FC236}">
                <a16:creationId xmlns:a16="http://schemas.microsoft.com/office/drawing/2014/main" id="{50589B1A-98B3-ABC6-777E-FC3020E6F515}"/>
              </a:ext>
            </a:extLst>
          </p:cNvPr>
          <p:cNvCxnSpPr/>
          <p:nvPr/>
        </p:nvCxnSpPr>
        <p:spPr>
          <a:xfrm>
            <a:off x="577773" y="1144627"/>
            <a:ext cx="10300009" cy="40888"/>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0098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BF2EFB-7F24-6D7E-65EA-E2010D9AC47C}"/>
              </a:ext>
            </a:extLst>
          </p:cNvPr>
          <p:cNvPicPr>
            <a:picLocks noChangeAspect="1"/>
          </p:cNvPicPr>
          <p:nvPr/>
        </p:nvPicPr>
        <p:blipFill>
          <a:blip r:embed="rId2"/>
          <a:stretch>
            <a:fillRect/>
          </a:stretch>
        </p:blipFill>
        <p:spPr>
          <a:xfrm>
            <a:off x="3136756" y="414338"/>
            <a:ext cx="6029325" cy="6029325"/>
          </a:xfrm>
          <a:prstGeom prst="rect">
            <a:avLst/>
          </a:prstGeom>
        </p:spPr>
      </p:pic>
      <p:sp>
        <p:nvSpPr>
          <p:cNvPr id="2" name="Slide Number Placeholder 1">
            <a:extLst>
              <a:ext uri="{FF2B5EF4-FFF2-40B4-BE49-F238E27FC236}">
                <a16:creationId xmlns:a16="http://schemas.microsoft.com/office/drawing/2014/main" id="{CE4C4628-B288-8DD0-019E-F8305FA031A5}"/>
              </a:ext>
            </a:extLst>
          </p:cNvPr>
          <p:cNvSpPr>
            <a:spLocks noGrp="1"/>
          </p:cNvSpPr>
          <p:nvPr>
            <p:ph type="sldNum" sz="quarter" idx="12"/>
          </p:nvPr>
        </p:nvSpPr>
        <p:spPr/>
        <p:txBody>
          <a:bodyPr/>
          <a:lstStyle/>
          <a:p>
            <a:fld id="{4CD77608-3819-479B-BB98-C216BA724EFE}" type="slidenum">
              <a:rPr lang="en-US" dirty="0" smtClean="0"/>
              <a:t>12</a:t>
            </a:fld>
            <a:endParaRPr lang="en-US" dirty="0"/>
          </a:p>
        </p:txBody>
      </p:sp>
      <p:sp>
        <p:nvSpPr>
          <p:cNvPr id="6" name="TextBox 5">
            <a:extLst>
              <a:ext uri="{FF2B5EF4-FFF2-40B4-BE49-F238E27FC236}">
                <a16:creationId xmlns:a16="http://schemas.microsoft.com/office/drawing/2014/main" id="{AF4E70C0-BD37-980B-4FCF-540D2D3E4256}"/>
              </a:ext>
            </a:extLst>
          </p:cNvPr>
          <p:cNvSpPr txBox="1"/>
          <p:nvPr/>
        </p:nvSpPr>
        <p:spPr>
          <a:xfrm>
            <a:off x="4369402" y="2965876"/>
            <a:ext cx="344516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t>Thank you</a:t>
            </a:r>
          </a:p>
        </p:txBody>
      </p:sp>
      <p:sp>
        <p:nvSpPr>
          <p:cNvPr id="3" name="Footer Placeholder 2">
            <a:extLst>
              <a:ext uri="{FF2B5EF4-FFF2-40B4-BE49-F238E27FC236}">
                <a16:creationId xmlns:a16="http://schemas.microsoft.com/office/drawing/2014/main" id="{EDF7737E-E41A-347B-6942-0A760963559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918028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9840EC-D082-5F50-8C4D-69E10D6B4E45}"/>
              </a:ext>
            </a:extLst>
          </p:cNvPr>
          <p:cNvSpPr>
            <a:spLocks noGrp="1"/>
          </p:cNvSpPr>
          <p:nvPr>
            <p:ph type="sldNum" sz="quarter" idx="12"/>
          </p:nvPr>
        </p:nvSpPr>
        <p:spPr/>
        <p:txBody>
          <a:bodyPr/>
          <a:lstStyle/>
          <a:p>
            <a:fld id="{4CD77608-3819-479B-BB98-C216BA724EFE}" type="slidenum">
              <a:rPr lang="en-US" dirty="0" smtClean="0"/>
              <a:t>13</a:t>
            </a:fld>
            <a:endParaRPr lang="en-US" dirty="0"/>
          </a:p>
        </p:txBody>
      </p:sp>
      <p:sp>
        <p:nvSpPr>
          <p:cNvPr id="2" name="Footer Placeholder 1">
            <a:extLst>
              <a:ext uri="{FF2B5EF4-FFF2-40B4-BE49-F238E27FC236}">
                <a16:creationId xmlns:a16="http://schemas.microsoft.com/office/drawing/2014/main" id="{3EEBE474-AA6A-63A1-84C0-26CA0A5AC0C7}"/>
              </a:ext>
            </a:extLst>
          </p:cNvPr>
          <p:cNvSpPr>
            <a:spLocks noGrp="1"/>
          </p:cNvSpPr>
          <p:nvPr>
            <p:ph type="ftr" sz="quarter" idx="11"/>
          </p:nvPr>
        </p:nvSpPr>
        <p:spPr/>
        <p:txBody>
          <a:bodyPr/>
          <a:lstStyle/>
          <a:p>
            <a:endParaRPr lang="en-US"/>
          </a:p>
        </p:txBody>
      </p:sp>
      <p:sp>
        <p:nvSpPr>
          <p:cNvPr id="6" name="TextBox 5">
            <a:extLst>
              <a:ext uri="{FF2B5EF4-FFF2-40B4-BE49-F238E27FC236}">
                <a16:creationId xmlns:a16="http://schemas.microsoft.com/office/drawing/2014/main" id="{4C2E6FBC-D336-987F-6B1A-BB232C3EA45E}"/>
              </a:ext>
            </a:extLst>
          </p:cNvPr>
          <p:cNvSpPr txBox="1"/>
          <p:nvPr/>
        </p:nvSpPr>
        <p:spPr>
          <a:xfrm>
            <a:off x="4044462" y="3927231"/>
            <a:ext cx="41147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t>Any Questions?</a:t>
            </a:r>
          </a:p>
        </p:txBody>
      </p:sp>
      <p:pic>
        <p:nvPicPr>
          <p:cNvPr id="7" name="Picture 6" descr="A person standing next to a question mark&#10;&#10;Description automatically generated">
            <a:extLst>
              <a:ext uri="{FF2B5EF4-FFF2-40B4-BE49-F238E27FC236}">
                <a16:creationId xmlns:a16="http://schemas.microsoft.com/office/drawing/2014/main" id="{B1813305-38DF-8246-60F3-AF841F0476AE}"/>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141227" y="1016139"/>
            <a:ext cx="1914571" cy="2611735"/>
          </a:xfrm>
          <a:prstGeom prst="rect">
            <a:avLst/>
          </a:prstGeom>
        </p:spPr>
      </p:pic>
    </p:spTree>
    <p:extLst>
      <p:ext uri="{BB962C8B-B14F-4D97-AF65-F5344CB8AC3E}">
        <p14:creationId xmlns:p14="http://schemas.microsoft.com/office/powerpoint/2010/main" val="2461757155"/>
      </p:ext>
    </p:extLst>
  </p:cSld>
  <p:clrMapOvr>
    <a:masterClrMapping/>
  </p:clrMapOvr>
</p:sld>
</file>

<file path=ppt/theme/theme1.xml><?xml version="1.0" encoding="utf-8"?>
<a:theme xmlns:a="http://schemas.openxmlformats.org/drawingml/2006/main" name="GlowVTI">
  <a:themeElements>
    <a:clrScheme name="Glow">
      <a:dk1>
        <a:sysClr val="windowText" lastClr="000000"/>
      </a:dk1>
      <a:lt1>
        <a:sysClr val="window" lastClr="FFFFFF"/>
      </a:lt1>
      <a:dk2>
        <a:srgbClr val="000000"/>
      </a:dk2>
      <a:lt2>
        <a:srgbClr val="F2F2F2"/>
      </a:lt2>
      <a:accent1>
        <a:srgbClr val="00BAC8"/>
      </a:accent1>
      <a:accent2>
        <a:srgbClr val="794DFF"/>
      </a:accent2>
      <a:accent3>
        <a:srgbClr val="00D17D"/>
      </a:accent3>
      <a:accent4>
        <a:srgbClr val="E69500"/>
      </a:accent4>
      <a:accent5>
        <a:srgbClr val="FE5D21"/>
      </a:accent5>
      <a:accent6>
        <a:srgbClr val="404040"/>
      </a:accent6>
      <a:hlink>
        <a:srgbClr val="3E8FF1"/>
      </a:hlink>
      <a:folHlink>
        <a:srgbClr val="939393"/>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1042</Words>
  <Application>Microsoft Office PowerPoint</Application>
  <PresentationFormat>Widescreen</PresentationFormat>
  <Paragraphs>84</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Avenir Next LT Pro</vt:lpstr>
      <vt:lpstr>Bell MT</vt:lpstr>
      <vt:lpstr>Calibri</vt:lpstr>
      <vt:lpstr>Times New Roman</vt:lpstr>
      <vt:lpstr>GlowVTI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Harshkumar Pravinbhai Sabhaya</cp:lastModifiedBy>
  <cp:revision>654</cp:revision>
  <dcterms:created xsi:type="dcterms:W3CDTF">2024-03-06T05:45:31Z</dcterms:created>
  <dcterms:modified xsi:type="dcterms:W3CDTF">2024-03-16T15:45:44Z</dcterms:modified>
</cp:coreProperties>
</file>